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4.xml" ContentType="application/vnd.openxmlformats-officedocument.presentationml.tags+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4"/>
  </p:notesMasterIdLst>
  <p:sldIdLst>
    <p:sldId id="256" r:id="rId5"/>
    <p:sldId id="257" r:id="rId6"/>
    <p:sldId id="258" r:id="rId7"/>
    <p:sldId id="259" r:id="rId8"/>
    <p:sldId id="260" r:id="rId9"/>
    <p:sldId id="278" r:id="rId10"/>
    <p:sldId id="274" r:id="rId11"/>
    <p:sldId id="275" r:id="rId12"/>
    <p:sldId id="262" r:id="rId13"/>
    <p:sldId id="263" r:id="rId14"/>
    <p:sldId id="264" r:id="rId15"/>
    <p:sldId id="265" r:id="rId16"/>
    <p:sldId id="267" r:id="rId17"/>
    <p:sldId id="268" r:id="rId18"/>
    <p:sldId id="269" r:id="rId19"/>
    <p:sldId id="270" r:id="rId20"/>
    <p:sldId id="271" r:id="rId21"/>
    <p:sldId id="272" r:id="rId22"/>
    <p:sldId id="273" r:id="rId23"/>
  </p:sldIdLst>
  <p:sldSz cx="12192000" cy="6858000"/>
  <p:notesSz cx="6858000" cy="1857375"/>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B49"/>
    <a:srgbClr val="E76F39"/>
    <a:srgbClr val="0072C3"/>
    <a:srgbClr val="007D79"/>
    <a:srgbClr val="D02670"/>
    <a:srgbClr val="231F20"/>
    <a:srgbClr val="33B1FF"/>
    <a:srgbClr val="262626"/>
    <a:srgbClr val="525252"/>
    <a:srgbClr val="BE9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13" autoAdjust="0"/>
    <p:restoredTop sz="91288" autoAdjust="0"/>
  </p:normalViewPr>
  <p:slideViewPr>
    <p:cSldViewPr snapToGrid="0">
      <p:cViewPr varScale="1">
        <p:scale>
          <a:sx n="78" d="100"/>
          <a:sy n="78" d="100"/>
        </p:scale>
        <p:origin x="91" y="758"/>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SUS\OneDrive\Desktop\Coursera%20DataSet\IBM%20Data%20Analyst%20Capstone%20Project\Module%201_Data%20Collection\job-posting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SUS\OneDrive\Desktop\Coursera%20DataSet\IBM%20Data%20Analyst%20Capstone%20Project\Module%201_Data%20Collection\popular-languages.csv"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0405787546698845"/>
          <c:y val="0.18465486198283185"/>
          <c:w val="0.74604330708661415"/>
          <c:h val="0.72088764946048411"/>
        </c:manualLayout>
      </c:layout>
      <c:barChart>
        <c:barDir val="bar"/>
        <c:grouping val="clustered"/>
        <c:varyColors val="0"/>
        <c:ser>
          <c:idx val="0"/>
          <c:order val="0"/>
          <c:tx>
            <c:strRef>
              <c:f>'[job-postings.xlsx]Sheet'!$B$1</c:f>
              <c:strCache>
                <c:ptCount val="1"/>
                <c:pt idx="0">
                  <c:v>Number of Jobs</c:v>
                </c:pt>
              </c:strCache>
            </c:strRef>
          </c:tx>
          <c:spPr>
            <a:solidFill>
              <a:schemeClr val="accent1"/>
            </a:solidFill>
            <a:ln>
              <a:noFill/>
            </a:ln>
            <a:effectLst/>
          </c:spPr>
          <c:invertIfNegative val="0"/>
          <c:cat>
            <c:strRef>
              <c:f>'[job-postings.xlsx]Sheet'!$A$2:$A$8</c:f>
              <c:strCache>
                <c:ptCount val="7"/>
                <c:pt idx="0">
                  <c:v>Washington DC</c:v>
                </c:pt>
                <c:pt idx="1">
                  <c:v>Detroit</c:v>
                </c:pt>
                <c:pt idx="2">
                  <c:v>Seattle</c:v>
                </c:pt>
                <c:pt idx="3">
                  <c:v>New York</c:v>
                </c:pt>
                <c:pt idx="4">
                  <c:v>Los Angeles</c:v>
                </c:pt>
                <c:pt idx="5">
                  <c:v>San Francisco</c:v>
                </c:pt>
                <c:pt idx="6">
                  <c:v>Austin</c:v>
                </c:pt>
              </c:strCache>
            </c:strRef>
          </c:cat>
          <c:val>
            <c:numRef>
              <c:f>'[job-postings.xlsx]Sheet'!$B$2:$B$8</c:f>
              <c:numCache>
                <c:formatCode>General</c:formatCode>
                <c:ptCount val="7"/>
                <c:pt idx="0">
                  <c:v>5316</c:v>
                </c:pt>
                <c:pt idx="1">
                  <c:v>3945</c:v>
                </c:pt>
                <c:pt idx="2">
                  <c:v>3375</c:v>
                </c:pt>
                <c:pt idx="3">
                  <c:v>3226</c:v>
                </c:pt>
                <c:pt idx="4">
                  <c:v>640</c:v>
                </c:pt>
                <c:pt idx="5">
                  <c:v>435</c:v>
                </c:pt>
                <c:pt idx="6">
                  <c:v>434</c:v>
                </c:pt>
              </c:numCache>
            </c:numRef>
          </c:val>
        </c:ser>
        <c:dLbls>
          <c:showLegendKey val="0"/>
          <c:showVal val="0"/>
          <c:showCatName val="0"/>
          <c:showSerName val="0"/>
          <c:showPercent val="0"/>
          <c:showBubbleSize val="0"/>
        </c:dLbls>
        <c:gapWidth val="182"/>
        <c:axId val="479088704"/>
        <c:axId val="492187488"/>
      </c:barChart>
      <c:catAx>
        <c:axId val="47908870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92187488"/>
        <c:crosses val="autoZero"/>
        <c:auto val="1"/>
        <c:lblAlgn val="ctr"/>
        <c:lblOffset val="100"/>
        <c:noMultiLvlLbl val="0"/>
      </c:catAx>
      <c:valAx>
        <c:axId val="49218748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7908870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smtClean="0"/>
              <a:t>Popular Programming Languages by Salary</a:t>
            </a:r>
            <a:endParaRPr lang="en-US" dirty="0"/>
          </a:p>
        </c:rich>
      </c:tx>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'popular-languages'!$A$1</c:f>
              <c:strCache>
                <c:ptCount val="1"/>
                <c:pt idx="0">
                  <c:v>Language</c:v>
                </c:pt>
              </c:strCache>
            </c:strRef>
          </c:tx>
          <c:spPr>
            <a:solidFill>
              <a:schemeClr val="accent1"/>
            </a:solidFill>
            <a:ln>
              <a:noFill/>
            </a:ln>
            <a:effectLst/>
          </c:spPr>
          <c:invertIfNegative val="0"/>
          <c:cat>
            <c:numRef>
              <c:f>'popular-languages'!$G$18</c:f>
              <c:numCache>
                <c:formatCode>General</c:formatCode>
                <c:ptCount val="1"/>
              </c:numCache>
            </c:numRef>
          </c:cat>
          <c:val>
            <c:numRef>
              <c:f>'popular-languages'!$B$1</c:f>
              <c:numCache>
                <c:formatCode>General</c:formatCode>
                <c:ptCount val="1"/>
                <c:pt idx="0">
                  <c:v>0</c:v>
                </c:pt>
              </c:numCache>
            </c:numRef>
          </c:val>
        </c:ser>
        <c:ser>
          <c:idx val="1"/>
          <c:order val="1"/>
          <c:tx>
            <c:strRef>
              <c:f>'popular-languages'!$A$2</c:f>
              <c:strCache>
                <c:ptCount val="1"/>
                <c:pt idx="0">
                  <c:v>Swift</c:v>
                </c:pt>
              </c:strCache>
            </c:strRef>
          </c:tx>
          <c:spPr>
            <a:solidFill>
              <a:schemeClr val="accent2"/>
            </a:solidFill>
            <a:ln>
              <a:noFill/>
            </a:ln>
            <a:effectLst/>
          </c:spPr>
          <c:invertIfNegative val="0"/>
          <c:cat>
            <c:numRef>
              <c:f>'popular-languages'!$G$18</c:f>
              <c:numCache>
                <c:formatCode>General</c:formatCode>
                <c:ptCount val="1"/>
              </c:numCache>
            </c:numRef>
          </c:cat>
          <c:val>
            <c:numRef>
              <c:f>'popular-languages'!$B$2</c:f>
              <c:numCache>
                <c:formatCode>"$"#,##0_);[Red]\("$"#,##0\)</c:formatCode>
                <c:ptCount val="1"/>
                <c:pt idx="0">
                  <c:v>130801</c:v>
                </c:pt>
              </c:numCache>
            </c:numRef>
          </c:val>
        </c:ser>
        <c:ser>
          <c:idx val="2"/>
          <c:order val="2"/>
          <c:tx>
            <c:strRef>
              <c:f>'popular-languages'!$A$3</c:f>
              <c:strCache>
                <c:ptCount val="1"/>
                <c:pt idx="0">
                  <c:v>Python</c:v>
                </c:pt>
              </c:strCache>
            </c:strRef>
          </c:tx>
          <c:spPr>
            <a:solidFill>
              <a:schemeClr val="accent3"/>
            </a:solidFill>
            <a:ln>
              <a:noFill/>
            </a:ln>
            <a:effectLst/>
          </c:spPr>
          <c:invertIfNegative val="0"/>
          <c:cat>
            <c:numRef>
              <c:f>'popular-languages'!$G$18</c:f>
              <c:numCache>
                <c:formatCode>General</c:formatCode>
                <c:ptCount val="1"/>
              </c:numCache>
            </c:numRef>
          </c:cat>
          <c:val>
            <c:numRef>
              <c:f>'popular-languages'!$B$3</c:f>
              <c:numCache>
                <c:formatCode>"$"#,##0_);[Red]\("$"#,##0\)</c:formatCode>
                <c:ptCount val="1"/>
                <c:pt idx="0">
                  <c:v>114383</c:v>
                </c:pt>
              </c:numCache>
            </c:numRef>
          </c:val>
        </c:ser>
        <c:ser>
          <c:idx val="3"/>
          <c:order val="3"/>
          <c:tx>
            <c:strRef>
              <c:f>'popular-languages'!$A$4</c:f>
              <c:strCache>
                <c:ptCount val="1"/>
                <c:pt idx="0">
                  <c:v>C++</c:v>
                </c:pt>
              </c:strCache>
            </c:strRef>
          </c:tx>
          <c:spPr>
            <a:solidFill>
              <a:schemeClr val="accent4"/>
            </a:solidFill>
            <a:ln>
              <a:noFill/>
            </a:ln>
            <a:effectLst/>
          </c:spPr>
          <c:invertIfNegative val="0"/>
          <c:cat>
            <c:numRef>
              <c:f>'popular-languages'!$G$18</c:f>
              <c:numCache>
                <c:formatCode>General</c:formatCode>
                <c:ptCount val="1"/>
              </c:numCache>
            </c:numRef>
          </c:cat>
          <c:val>
            <c:numRef>
              <c:f>'popular-languages'!$B$4</c:f>
              <c:numCache>
                <c:formatCode>"$"#,##0_);[Red]\("$"#,##0\)</c:formatCode>
                <c:ptCount val="1"/>
                <c:pt idx="0">
                  <c:v>113865</c:v>
                </c:pt>
              </c:numCache>
            </c:numRef>
          </c:val>
        </c:ser>
        <c:ser>
          <c:idx val="4"/>
          <c:order val="4"/>
          <c:tx>
            <c:strRef>
              <c:f>'popular-languages'!$A$5</c:f>
              <c:strCache>
                <c:ptCount val="1"/>
                <c:pt idx="0">
                  <c:v>Javascript</c:v>
                </c:pt>
              </c:strCache>
            </c:strRef>
          </c:tx>
          <c:spPr>
            <a:solidFill>
              <a:schemeClr val="accent5"/>
            </a:solidFill>
            <a:ln>
              <a:noFill/>
            </a:ln>
            <a:effectLst/>
          </c:spPr>
          <c:invertIfNegative val="0"/>
          <c:cat>
            <c:numRef>
              <c:f>'popular-languages'!$G$18</c:f>
              <c:numCache>
                <c:formatCode>General</c:formatCode>
                <c:ptCount val="1"/>
              </c:numCache>
            </c:numRef>
          </c:cat>
          <c:val>
            <c:numRef>
              <c:f>'popular-languages'!$B$5</c:f>
              <c:numCache>
                <c:formatCode>"$"#,##0_);[Red]\("$"#,##0\)</c:formatCode>
                <c:ptCount val="1"/>
                <c:pt idx="0">
                  <c:v>110981</c:v>
                </c:pt>
              </c:numCache>
            </c:numRef>
          </c:val>
        </c:ser>
        <c:ser>
          <c:idx val="5"/>
          <c:order val="5"/>
          <c:tx>
            <c:strRef>
              <c:f>'popular-languages'!$A$6</c:f>
              <c:strCache>
                <c:ptCount val="1"/>
                <c:pt idx="0">
                  <c:v>Java</c:v>
                </c:pt>
              </c:strCache>
            </c:strRef>
          </c:tx>
          <c:spPr>
            <a:solidFill>
              <a:schemeClr val="accent6"/>
            </a:solidFill>
            <a:ln>
              <a:noFill/>
            </a:ln>
            <a:effectLst/>
          </c:spPr>
          <c:invertIfNegative val="0"/>
          <c:cat>
            <c:numRef>
              <c:f>'popular-languages'!$G$18</c:f>
              <c:numCache>
                <c:formatCode>General</c:formatCode>
                <c:ptCount val="1"/>
              </c:numCache>
            </c:numRef>
          </c:cat>
          <c:val>
            <c:numRef>
              <c:f>'popular-languages'!$B$6</c:f>
              <c:numCache>
                <c:formatCode>"$"#,##0_);[Red]\("$"#,##0\)</c:formatCode>
                <c:ptCount val="1"/>
                <c:pt idx="0">
                  <c:v>101013</c:v>
                </c:pt>
              </c:numCache>
            </c:numRef>
          </c:val>
        </c:ser>
        <c:ser>
          <c:idx val="6"/>
          <c:order val="6"/>
          <c:tx>
            <c:strRef>
              <c:f>'popular-languages'!$A$7</c:f>
              <c:strCache>
                <c:ptCount val="1"/>
                <c:pt idx="0">
                  <c:v>Go</c:v>
                </c:pt>
              </c:strCache>
            </c:strRef>
          </c:tx>
          <c:spPr>
            <a:solidFill>
              <a:schemeClr val="accent1">
                <a:lumMod val="60000"/>
              </a:schemeClr>
            </a:solidFill>
            <a:ln>
              <a:noFill/>
            </a:ln>
            <a:effectLst/>
          </c:spPr>
          <c:invertIfNegative val="0"/>
          <c:cat>
            <c:numRef>
              <c:f>'popular-languages'!$G$18</c:f>
              <c:numCache>
                <c:formatCode>General</c:formatCode>
                <c:ptCount val="1"/>
              </c:numCache>
            </c:numRef>
          </c:cat>
          <c:val>
            <c:numRef>
              <c:f>'popular-languages'!$B$7</c:f>
              <c:numCache>
                <c:formatCode>"$"#,##0_);[Red]\("$"#,##0\)</c:formatCode>
                <c:ptCount val="1"/>
                <c:pt idx="0">
                  <c:v>94082</c:v>
                </c:pt>
              </c:numCache>
            </c:numRef>
          </c:val>
        </c:ser>
        <c:ser>
          <c:idx val="7"/>
          <c:order val="7"/>
          <c:tx>
            <c:strRef>
              <c:f>'popular-languages'!$A$8</c:f>
              <c:strCache>
                <c:ptCount val="1"/>
                <c:pt idx="0">
                  <c:v>R</c:v>
                </c:pt>
              </c:strCache>
            </c:strRef>
          </c:tx>
          <c:spPr>
            <a:solidFill>
              <a:schemeClr val="accent2">
                <a:lumMod val="60000"/>
              </a:schemeClr>
            </a:solidFill>
            <a:ln>
              <a:noFill/>
            </a:ln>
            <a:effectLst/>
          </c:spPr>
          <c:invertIfNegative val="0"/>
          <c:cat>
            <c:numRef>
              <c:f>'popular-languages'!$G$18</c:f>
              <c:numCache>
                <c:formatCode>General</c:formatCode>
                <c:ptCount val="1"/>
              </c:numCache>
            </c:numRef>
          </c:cat>
          <c:val>
            <c:numRef>
              <c:f>'popular-languages'!$B$8</c:f>
              <c:numCache>
                <c:formatCode>"$"#,##0_);[Red]\("$"#,##0\)</c:formatCode>
                <c:ptCount val="1"/>
                <c:pt idx="0">
                  <c:v>92037</c:v>
                </c:pt>
              </c:numCache>
            </c:numRef>
          </c:val>
        </c:ser>
        <c:ser>
          <c:idx val="8"/>
          <c:order val="8"/>
          <c:tx>
            <c:strRef>
              <c:f>'popular-languages'!$A$9</c:f>
              <c:strCache>
                <c:ptCount val="1"/>
                <c:pt idx="0">
                  <c:v>C#</c:v>
                </c:pt>
              </c:strCache>
            </c:strRef>
          </c:tx>
          <c:spPr>
            <a:solidFill>
              <a:schemeClr val="accent3">
                <a:lumMod val="60000"/>
              </a:schemeClr>
            </a:solidFill>
            <a:ln>
              <a:noFill/>
            </a:ln>
            <a:effectLst/>
          </c:spPr>
          <c:invertIfNegative val="0"/>
          <c:cat>
            <c:numRef>
              <c:f>'popular-languages'!$G$18</c:f>
              <c:numCache>
                <c:formatCode>General</c:formatCode>
                <c:ptCount val="1"/>
              </c:numCache>
            </c:numRef>
          </c:cat>
          <c:val>
            <c:numRef>
              <c:f>'popular-languages'!$B$9</c:f>
              <c:numCache>
                <c:formatCode>"$"#,##0_);[Red]\("$"#,##0\)</c:formatCode>
                <c:ptCount val="1"/>
                <c:pt idx="0">
                  <c:v>88726</c:v>
                </c:pt>
              </c:numCache>
            </c:numRef>
          </c:val>
        </c:ser>
        <c:ser>
          <c:idx val="9"/>
          <c:order val="9"/>
          <c:tx>
            <c:strRef>
              <c:f>'popular-languages'!$A$10</c:f>
              <c:strCache>
                <c:ptCount val="1"/>
                <c:pt idx="0">
                  <c:v>SQL</c:v>
                </c:pt>
              </c:strCache>
            </c:strRef>
          </c:tx>
          <c:spPr>
            <a:solidFill>
              <a:schemeClr val="accent4">
                <a:lumMod val="60000"/>
              </a:schemeClr>
            </a:solidFill>
            <a:ln>
              <a:noFill/>
            </a:ln>
            <a:effectLst/>
          </c:spPr>
          <c:invertIfNegative val="0"/>
          <c:cat>
            <c:numRef>
              <c:f>'popular-languages'!$G$18</c:f>
              <c:numCache>
                <c:formatCode>General</c:formatCode>
                <c:ptCount val="1"/>
              </c:numCache>
            </c:numRef>
          </c:cat>
          <c:val>
            <c:numRef>
              <c:f>'popular-languages'!$B$10</c:f>
              <c:numCache>
                <c:formatCode>"$"#,##0_);[Red]\("$"#,##0\)</c:formatCode>
                <c:ptCount val="1"/>
                <c:pt idx="0">
                  <c:v>84793</c:v>
                </c:pt>
              </c:numCache>
            </c:numRef>
          </c:val>
        </c:ser>
        <c:ser>
          <c:idx val="10"/>
          <c:order val="10"/>
          <c:tx>
            <c:strRef>
              <c:f>'popular-languages'!$A$11</c:f>
              <c:strCache>
                <c:ptCount val="1"/>
                <c:pt idx="0">
                  <c:v>PHP</c:v>
                </c:pt>
              </c:strCache>
            </c:strRef>
          </c:tx>
          <c:spPr>
            <a:solidFill>
              <a:schemeClr val="accent5">
                <a:lumMod val="60000"/>
              </a:schemeClr>
            </a:solidFill>
            <a:ln>
              <a:noFill/>
            </a:ln>
            <a:effectLst/>
          </c:spPr>
          <c:invertIfNegative val="0"/>
          <c:cat>
            <c:numRef>
              <c:f>'popular-languages'!$G$18</c:f>
              <c:numCache>
                <c:formatCode>General</c:formatCode>
                <c:ptCount val="1"/>
              </c:numCache>
            </c:numRef>
          </c:cat>
          <c:val>
            <c:numRef>
              <c:f>'popular-languages'!$B$11</c:f>
              <c:numCache>
                <c:formatCode>"$"#,##0_);[Red]\("$"#,##0\)</c:formatCode>
                <c:ptCount val="1"/>
                <c:pt idx="0">
                  <c:v>84727</c:v>
                </c:pt>
              </c:numCache>
            </c:numRef>
          </c:val>
        </c:ser>
        <c:dLbls>
          <c:showLegendKey val="0"/>
          <c:showVal val="0"/>
          <c:showCatName val="0"/>
          <c:showSerName val="0"/>
          <c:showPercent val="0"/>
          <c:showBubbleSize val="0"/>
        </c:dLbls>
        <c:gapWidth val="182"/>
        <c:axId val="522197376"/>
        <c:axId val="522195416"/>
      </c:barChart>
      <c:catAx>
        <c:axId val="52219737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2195416"/>
        <c:crosses val="autoZero"/>
        <c:auto val="1"/>
        <c:lblAlgn val="ctr"/>
        <c:lblOffset val="100"/>
        <c:noMultiLvlLbl val="0"/>
      </c:catAx>
      <c:valAx>
        <c:axId val="522195416"/>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2219737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7/5/2026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xmlns=""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xmlns="" id="{D9DAF80D-4D83-4EA4-3B9A-B4DEAA21CF43}"/>
                </a:ext>
              </a:extLst>
            </p:cNvPr>
            <p:cNvPicPr>
              <a:picLocks noChangeAspect="1"/>
            </p:cNvPicPr>
            <p:nvPr userDrawn="1"/>
          </p:nvPicPr>
          <p:blipFill>
            <a:blip r:embed="rId3">
              <a:extLst>
                <a:ext uri="{96DAC541-7B7A-43D3-8B79-37D633B846F1}">
                  <asvg:svgBlip xmlns:asvg="http://schemas.microsoft.com/office/drawing/2016/SVG/main" xmlns=""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xmlns="" id="{AA1B3EED-0A38-9B4D-C031-B7CFB1F16CD2}"/>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xmlns="" id="{D8BA40FF-052F-CEA2-8570-24062BFE0A7B}"/>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xmlns="" id="{10305589-4F05-9658-71A7-2F6E7BFE9524}"/>
                </a:ext>
              </a:extLst>
            </p:cNvPr>
            <p:cNvPicPr>
              <a:picLocks noChangeAspect="1"/>
            </p:cNvPicPr>
            <p:nvPr userDrawn="1"/>
          </p:nvPicPr>
          <p:blipFill>
            <a:blip r:embed="rId5">
              <a:extLst>
                <a:ext uri="{96DAC541-7B7A-43D3-8B79-37D633B846F1}">
                  <asvg:svgBlip xmlns:asvg="http://schemas.microsoft.com/office/drawing/2016/SVG/main" xmlns=""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xmlns="" id="{EEFE9B80-1CD0-9614-4D99-C0FA5B74A8B1}"/>
              </a:ext>
            </a:extLst>
          </p:cNvPr>
          <p:cNvPicPr>
            <a:picLocks noChangeAspect="1"/>
          </p:cNvPicPr>
          <p:nvPr userDrawn="1"/>
        </p:nvPicPr>
        <p:blipFill>
          <a:blip r:embed="rId7">
            <a:extLst>
              <a:ext uri="{96DAC541-7B7A-43D3-8B79-37D633B846F1}">
                <asvg:svgBlip xmlns:asvg="http://schemas.microsoft.com/office/drawing/2016/SVG/main" xmlns=""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4.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xmlns=""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xmlns=""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xmlns=""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xmlns=""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xmlns=""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xmlns=""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xmlns=""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xmlns=""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xmlns=""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xmlns=""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xmlns=""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xmlns=""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xmlns=""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xmlns=""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xmlns=""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xmlns=""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xmlns=""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xmlns=""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xmlns=""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xmlns=""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xmlns=""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xmlns=""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xmlns=""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xmlns=""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xmlns=""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xmlns=""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xmlns=""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xmlns=""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xmlns=""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xmlns=""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xmlns=""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xmlns=""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xmlns=""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xmlns=""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xmlns=""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xmlns=""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xmlns="" id="{EFEE4105-67FB-F40B-E7BD-8C9B80C32F89}"/>
                </a:ext>
              </a:extLst>
            </p:cNvPr>
            <p:cNvPicPr>
              <a:picLocks noChangeAspect="1"/>
            </p:cNvPicPr>
            <p:nvPr userDrawn="1"/>
          </p:nvPicPr>
          <p:blipFill>
            <a:blip r:embed="rId11">
              <a:extLst>
                <a:ext uri="{96DAC541-7B7A-43D3-8B79-37D633B846F1}">
                  <asvg:svgBlip xmlns:asvg="http://schemas.microsoft.com/office/drawing/2016/SVG/main" xmlns=""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xmlns="" id="{9AB2407C-B3E2-DCDD-0692-DD32E3C45227}"/>
                </a:ext>
              </a:extLst>
            </p:cNvPr>
            <p:cNvPicPr>
              <a:picLocks noChangeAspect="1"/>
            </p:cNvPicPr>
            <p:nvPr userDrawn="1"/>
          </p:nvPicPr>
          <p:blipFill>
            <a:blip r:embed="rId13">
              <a:extLst>
                <a:ext uri="{96DAC541-7B7A-43D3-8B79-37D633B846F1}">
                  <asvg:svgBlip xmlns:asvg="http://schemas.microsoft.com/office/drawing/2016/SVG/main" xmlns=""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xmlns="" id="{9128FFA9-E729-6051-FE44-5C57854D2B9B}"/>
                </a:ext>
              </a:extLst>
            </p:cNvPr>
            <p:cNvPicPr>
              <a:picLocks noChangeAspect="1"/>
            </p:cNvPicPr>
            <p:nvPr userDrawn="1"/>
          </p:nvPicPr>
          <p:blipFill>
            <a:blip r:embed="rId13">
              <a:extLst>
                <a:ext uri="{96DAC541-7B7A-43D3-8B79-37D633B846F1}">
                  <asvg:svgBlip xmlns:asvg="http://schemas.microsoft.com/office/drawing/2016/SVG/main" xmlns=""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xmlns="" id="{21D1BE07-55D7-FEB6-D90F-FC214DFBDA4C}"/>
                </a:ext>
              </a:extLst>
            </p:cNvPr>
            <p:cNvPicPr>
              <a:picLocks noChangeAspect="1"/>
            </p:cNvPicPr>
            <p:nvPr userDrawn="1"/>
          </p:nvPicPr>
          <p:blipFill>
            <a:blip r:embed="rId13">
              <a:extLst>
                <a:ext uri="{96DAC541-7B7A-43D3-8B79-37D633B846F1}">
                  <asvg:svgBlip xmlns:asvg="http://schemas.microsoft.com/office/drawing/2016/SVG/main" xmlns=""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xmlns="" id="{FD0E63E5-36ED-0A5F-F2A0-E31AD11555EA}"/>
              </a:ext>
            </a:extLst>
          </p:cNvPr>
          <p:cNvPicPr>
            <a:picLocks noChangeAspect="1"/>
          </p:cNvPicPr>
          <p:nvPr userDrawn="1"/>
        </p:nvPicPr>
        <p:blipFill>
          <a:blip r:embed="rId15">
            <a:extLst>
              <a:ext uri="{96DAC541-7B7A-43D3-8B79-37D633B846F1}">
                <asvg:svgBlip xmlns:asvg="http://schemas.microsoft.com/office/drawing/2016/SVG/main" xmlns=""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xmlns=""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0D5631-0297-E86E-7069-C969B141FD7D}"/>
              </a:ext>
            </a:extLst>
          </p:cNvPr>
          <p:cNvSpPr>
            <a:spLocks noGrp="1"/>
          </p:cNvSpPr>
          <p:nvPr>
            <p:ph type="title"/>
          </p:nvPr>
        </p:nvSpPr>
        <p:spPr>
          <a:xfrm>
            <a:off x="838200" y="552162"/>
            <a:ext cx="10515600" cy="611620"/>
          </a:xfrm>
        </p:spPr>
        <p:txBody>
          <a:bodyPr anchor="ctr">
            <a:noAutofit/>
          </a:bodyPr>
          <a:lstStyle/>
          <a:p>
            <a:r>
              <a:rPr lang="en-US" dirty="0"/>
              <a:t>Data Analyst Capstone Project</a:t>
            </a:r>
            <a:endParaRPr lang="en-US" dirty="0"/>
          </a:p>
        </p:txBody>
      </p:sp>
      <p:sp>
        <p:nvSpPr>
          <p:cNvPr id="3" name="Subtitle 2">
            <a:extLst>
              <a:ext uri="{FF2B5EF4-FFF2-40B4-BE49-F238E27FC236}">
                <a16:creationId xmlns:a16="http://schemas.microsoft.com/office/drawing/2014/main" xmlns="" id="{59DF6B8D-2BAC-11F8-7D28-B631D08C8D90}"/>
              </a:ext>
            </a:extLst>
          </p:cNvPr>
          <p:cNvSpPr>
            <a:spLocks noGrp="1"/>
          </p:cNvSpPr>
          <p:nvPr>
            <p:ph sz="half" idx="1"/>
          </p:nvPr>
        </p:nvSpPr>
        <p:spPr/>
        <p:txBody>
          <a:bodyPr>
            <a:normAutofit/>
          </a:bodyPr>
          <a:lstStyle/>
          <a:p>
            <a:pPr marL="0" indent="0">
              <a:buNone/>
            </a:pPr>
            <a:r>
              <a:rPr lang="en-US" dirty="0" err="1" smtClean="0">
                <a:solidFill>
                  <a:schemeClr val="bg1">
                    <a:lumMod val="75000"/>
                  </a:schemeClr>
                </a:solidFill>
                <a:latin typeface="IBM Plex Mono Medium" panose="020B0609050203000203" pitchFamily="49" charset="0"/>
              </a:rPr>
              <a:t>Mohd</a:t>
            </a:r>
            <a:r>
              <a:rPr lang="en-US" dirty="0" smtClean="0">
                <a:solidFill>
                  <a:schemeClr val="bg1">
                    <a:lumMod val="75000"/>
                  </a:schemeClr>
                </a:solidFill>
                <a:latin typeface="IBM Plex Mono Medium" panose="020B0609050203000203" pitchFamily="49" charset="0"/>
              </a:rPr>
              <a:t> Waseem</a:t>
            </a:r>
            <a:r>
              <a:rPr lang="en-US" dirty="0" smtClean="0">
                <a:solidFill>
                  <a:schemeClr val="bg1">
                    <a:lumMod val="75000"/>
                  </a:schemeClr>
                </a:solidFill>
                <a:latin typeface="IBM Plex Mono Medium" panose="020B0609050203000203" pitchFamily="49" charset="0"/>
              </a:rPr>
              <a:t> </a:t>
            </a:r>
            <a:endParaRPr lang="en-US" dirty="0">
              <a:solidFill>
                <a:schemeClr val="bg1">
                  <a:lumMod val="75000"/>
                </a:schemeClr>
              </a:solidFill>
              <a:latin typeface="IBM Plex Mono Medium" panose="020B0609050203000203" pitchFamily="49" charset="0"/>
            </a:endParaRPr>
          </a:p>
          <a:p>
            <a:pPr marL="0" indent="0">
              <a:buNone/>
            </a:pPr>
            <a:r>
              <a:rPr lang="en-US" dirty="0" smtClean="0">
                <a:solidFill>
                  <a:schemeClr val="bg1">
                    <a:lumMod val="75000"/>
                  </a:schemeClr>
                </a:solidFill>
                <a:latin typeface="IBM Plex Mono Medium" panose="020B0609050203000203" pitchFamily="49" charset="0"/>
              </a:rPr>
              <a:t>Date:- 5/7/2026 </a:t>
            </a:r>
            <a:endParaRPr lang="en-US" dirty="0">
              <a:solidFill>
                <a:schemeClr val="bg1">
                  <a:lumMod val="75000"/>
                </a:schemeClr>
              </a:solidFill>
              <a:latin typeface="IBM Plex Mono Medium" panose="020B0609050203000203" pitchFamily="49" charset="0"/>
            </a:endParaRPr>
          </a:p>
          <a:p>
            <a:endParaRPr lang="en-US" dirty="0"/>
          </a:p>
        </p:txBody>
      </p:sp>
      <p:pic>
        <p:nvPicPr>
          <p:cNvPr id="4" name="Picture 3">
            <a:extLst>
              <a:ext uri="{FF2B5EF4-FFF2-40B4-BE49-F238E27FC236}">
                <a16:creationId xmlns:a16="http://schemas.microsoft.com/office/drawing/2014/main" xmlns="" id="{77323E2C-8982-861D-BE1D-3E30E5CC437C}"/>
              </a:ext>
            </a:extLst>
          </p:cNvPr>
          <p:cNvPicPr>
            <a:picLocks noChangeAspect="1"/>
          </p:cNvPicPr>
          <p:nvPr/>
        </p:nvPicPr>
        <p:blipFill>
          <a:blip r:embed="rId3"/>
          <a:stretch>
            <a:fillRect/>
          </a:stretch>
        </p:blipFill>
        <p:spPr>
          <a:xfrm>
            <a:off x="5689811" y="1600200"/>
            <a:ext cx="5038015" cy="4572000"/>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xmlns=""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xmlns=""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xmlns=""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xmlns=""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xmlns=""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xmlns=""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xmlns=""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xmlns=""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xmlns=""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xmlns=""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xmlns=""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xmlns=""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xmlns="" id="{06B44109-938A-7A63-C3A8-FDDB5C799EA5}"/>
              </a:ext>
            </a:extLst>
          </p:cNvPr>
          <p:cNvSpPr txBox="1">
            <a:spLocks/>
          </p:cNvSpPr>
          <p:nvPr/>
        </p:nvSpPr>
        <p:spPr>
          <a:xfrm>
            <a:off x="2945095" y="1648566"/>
            <a:ext cx="8896437"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nSpc>
                <a:spcPct val="100000"/>
              </a:lnSpc>
              <a:buNone/>
            </a:pPr>
            <a:r>
              <a:rPr lang="en-US" sz="1800" b="1" dirty="0"/>
              <a:t>Point </a:t>
            </a:r>
            <a:r>
              <a:rPr lang="en-US" sz="1800" b="1" dirty="0" smtClean="0"/>
              <a:t>1</a:t>
            </a:r>
            <a:r>
              <a:rPr lang="en-US" sz="1800" dirty="0" smtClean="0"/>
              <a:t> : Analyzed </a:t>
            </a:r>
            <a:r>
              <a:rPr lang="en-US" sz="1800" dirty="0"/>
              <a:t>job postings and developer survey datasets to identify technology and job market trends. </a:t>
            </a:r>
          </a:p>
          <a:p>
            <a:pPr marL="0" indent="0">
              <a:lnSpc>
                <a:spcPct val="100000"/>
              </a:lnSpc>
              <a:buNone/>
            </a:pPr>
            <a:r>
              <a:rPr lang="en-US" sz="1800" b="1" dirty="0"/>
              <a:t>Point </a:t>
            </a:r>
            <a:r>
              <a:rPr lang="en-US" sz="1800" b="1" dirty="0" smtClean="0"/>
              <a:t>2</a:t>
            </a:r>
            <a:r>
              <a:rPr lang="en-US" sz="1800" dirty="0" smtClean="0"/>
              <a:t> : Explored </a:t>
            </a:r>
            <a:r>
              <a:rPr lang="en-US" sz="1800" dirty="0"/>
              <a:t>current and future demand for programming languages, databases, platforms, and web frameworks. </a:t>
            </a:r>
          </a:p>
          <a:p>
            <a:pPr marL="0" indent="0">
              <a:lnSpc>
                <a:spcPct val="100000"/>
              </a:lnSpc>
              <a:buNone/>
            </a:pPr>
            <a:r>
              <a:rPr lang="en-US" sz="1800" b="1" dirty="0"/>
              <a:t> </a:t>
            </a:r>
            <a:r>
              <a:rPr lang="en-US" sz="1800" b="1" dirty="0" smtClean="0"/>
              <a:t>	Sub </a:t>
            </a:r>
            <a:r>
              <a:rPr lang="en-US" sz="1800" b="1" dirty="0"/>
              <a:t>Points</a:t>
            </a:r>
            <a:endParaRPr lang="en-US" sz="1800" dirty="0"/>
          </a:p>
          <a:p>
            <a:pPr marL="0" indent="0">
              <a:lnSpc>
                <a:spcPct val="100000"/>
              </a:lnSpc>
              <a:buNone/>
            </a:pPr>
            <a:r>
              <a:rPr lang="en-US" sz="1800" dirty="0" smtClean="0"/>
              <a:t>	Job </a:t>
            </a:r>
            <a:r>
              <a:rPr lang="en-US" sz="1800" dirty="0"/>
              <a:t>market analysis using job postings </a:t>
            </a:r>
          </a:p>
          <a:p>
            <a:pPr marL="0" indent="0">
              <a:lnSpc>
                <a:spcPct val="100000"/>
              </a:lnSpc>
              <a:buNone/>
            </a:pPr>
            <a:r>
              <a:rPr lang="en-US" sz="1800" dirty="0" smtClean="0"/>
              <a:t>	Technology </a:t>
            </a:r>
            <a:r>
              <a:rPr lang="en-US" sz="1800" dirty="0"/>
              <a:t>trend analysis using developer survey </a:t>
            </a:r>
          </a:p>
          <a:p>
            <a:pPr marL="0" indent="0">
              <a:lnSpc>
                <a:spcPct val="100000"/>
              </a:lnSpc>
              <a:buNone/>
            </a:pPr>
            <a:r>
              <a:rPr lang="en-US" sz="1800" dirty="0" smtClean="0"/>
              <a:t>	Demographic </a:t>
            </a:r>
            <a:r>
              <a:rPr lang="en-US" sz="1800" dirty="0"/>
              <a:t>analysis of developers </a:t>
            </a:r>
          </a:p>
          <a:p>
            <a:pPr marL="0" indent="0">
              <a:lnSpc>
                <a:spcPct val="100000"/>
              </a:lnSpc>
              <a:buNone/>
            </a:pPr>
            <a:r>
              <a:rPr lang="en-US" sz="1800" b="1" dirty="0"/>
              <a:t>Point </a:t>
            </a:r>
            <a:r>
              <a:rPr lang="en-US" sz="1800" b="1" dirty="0" smtClean="0"/>
              <a:t>3</a:t>
            </a:r>
            <a:r>
              <a:rPr lang="en-US" sz="1800" dirty="0" smtClean="0"/>
              <a:t> : Performed </a:t>
            </a:r>
            <a:r>
              <a:rPr lang="en-US" sz="1800" dirty="0"/>
              <a:t>data cleaning, exploratory data analysis, and visualization using Python. </a:t>
            </a:r>
          </a:p>
          <a:p>
            <a:pPr marL="0" indent="0">
              <a:lnSpc>
                <a:spcPct val="100000"/>
              </a:lnSpc>
              <a:buNone/>
            </a:pPr>
            <a:r>
              <a:rPr lang="en-US" sz="1800" b="1" dirty="0"/>
              <a:t>Point </a:t>
            </a:r>
            <a:r>
              <a:rPr lang="en-US" sz="1800" b="1" dirty="0" smtClean="0"/>
              <a:t>4</a:t>
            </a:r>
            <a:r>
              <a:rPr lang="en-US" sz="1800" dirty="0"/>
              <a:t> </a:t>
            </a:r>
            <a:r>
              <a:rPr lang="en-US" sz="1800" dirty="0" smtClean="0"/>
              <a:t>: Built </a:t>
            </a:r>
            <a:r>
              <a:rPr lang="en-US" sz="1800" dirty="0"/>
              <a:t>interactive dashboards using IBM </a:t>
            </a:r>
            <a:r>
              <a:rPr lang="en-US" sz="1800" dirty="0" err="1"/>
              <a:t>Cognos</a:t>
            </a:r>
            <a:r>
              <a:rPr lang="en-US" sz="1800" dirty="0"/>
              <a:t> Analytics. </a:t>
            </a:r>
          </a:p>
          <a:p>
            <a:pPr marL="0" indent="0">
              <a:lnSpc>
                <a:spcPct val="100000"/>
              </a:lnSpc>
              <a:buNone/>
            </a:pPr>
            <a:r>
              <a:rPr lang="en-US" sz="1800" b="1" dirty="0"/>
              <a:t>Point </a:t>
            </a:r>
            <a:r>
              <a:rPr lang="en-US" sz="1800" b="1" dirty="0" smtClean="0"/>
              <a:t>5</a:t>
            </a:r>
            <a:r>
              <a:rPr lang="en-US" sz="1800" dirty="0"/>
              <a:t> </a:t>
            </a:r>
            <a:r>
              <a:rPr lang="en-US" sz="1800" dirty="0" smtClean="0"/>
              <a:t>: Generated </a:t>
            </a:r>
            <a:r>
              <a:rPr lang="en-US" sz="1800" dirty="0"/>
              <a:t>actionable insights and recommendations for technology adoption and career planning.</a:t>
            </a:r>
          </a:p>
          <a:p>
            <a:endParaRPr lang="en-US" sz="1200" dirty="0"/>
          </a:p>
        </p:txBody>
      </p:sp>
      <p:pic>
        <p:nvPicPr>
          <p:cNvPr id="7" name="Picture 6">
            <a:extLst>
              <a:ext uri="{FF2B5EF4-FFF2-40B4-BE49-F238E27FC236}">
                <a16:creationId xmlns:a16="http://schemas.microsoft.com/office/drawing/2014/main" xmlns="" id="{DA6795A9-FE70-B337-8B17-B79ACA60A9C1}"/>
              </a:ext>
            </a:extLst>
          </p:cNvPr>
          <p:cNvPicPr>
            <a:picLocks noChangeAspect="1"/>
          </p:cNvPicPr>
          <p:nvPr/>
        </p:nvPicPr>
        <p:blipFill>
          <a:blip r:embed="rId3"/>
          <a:stretch>
            <a:fillRect/>
          </a:stretch>
        </p:blipFill>
        <p:spPr>
          <a:xfrm>
            <a:off x="67150" y="2392145"/>
            <a:ext cx="2494487" cy="2494487"/>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xmlns="" id="{BBCC879F-E713-B75A-D2DE-0953EB0EA469}"/>
              </a:ext>
            </a:extLst>
          </p:cNvPr>
          <p:cNvPicPr>
            <a:picLocks noChangeAspect="1"/>
          </p:cNvPicPr>
          <p:nvPr/>
        </p:nvPicPr>
        <p:blipFill>
          <a:blip r:embed="rId3"/>
          <a:stretch>
            <a:fillRect/>
          </a:stretch>
        </p:blipFill>
        <p:spPr>
          <a:xfrm>
            <a:off x="207766" y="2242372"/>
            <a:ext cx="3054361" cy="3054361"/>
          </a:xfrm>
          <a:prstGeom prst="rect">
            <a:avLst/>
          </a:prstGeom>
        </p:spPr>
      </p:pic>
      <p:sp>
        <p:nvSpPr>
          <p:cNvPr id="4" name="Content Placeholder 2">
            <a:extLst>
              <a:ext uri="{FF2B5EF4-FFF2-40B4-BE49-F238E27FC236}">
                <a16:creationId xmlns:a16="http://schemas.microsoft.com/office/drawing/2014/main" xmlns="" id="{ED35578F-30C9-4905-FD4E-7366FEFAEA7F}"/>
              </a:ext>
            </a:extLst>
          </p:cNvPr>
          <p:cNvSpPr txBox="1">
            <a:spLocks/>
          </p:cNvSpPr>
          <p:nvPr/>
        </p:nvSpPr>
        <p:spPr>
          <a:xfrm>
            <a:off x="3460955" y="1779178"/>
            <a:ext cx="7836310" cy="539837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pPr>
            <a:r>
              <a:rPr lang="en-US" sz="1800" b="1" dirty="0">
                <a:solidFill>
                  <a:schemeClr val="tx1"/>
                </a:solidFill>
              </a:rPr>
              <a:t>Purpose of the report, Target Audience &amp; Value of the analysis</a:t>
            </a:r>
            <a:endParaRPr lang="en-US" sz="1800" dirty="0">
              <a:solidFill>
                <a:schemeClr val="tx1"/>
              </a:solidFill>
            </a:endParaRPr>
          </a:p>
          <a:p>
            <a:pPr>
              <a:lnSpc>
                <a:spcPct val="100000"/>
              </a:lnSpc>
            </a:pPr>
            <a:r>
              <a:rPr lang="en-US" sz="1800" b="1" dirty="0" smtClean="0">
                <a:solidFill>
                  <a:schemeClr val="tx1"/>
                </a:solidFill>
              </a:rPr>
              <a:t>Point 1</a:t>
            </a:r>
            <a:r>
              <a:rPr lang="en-US" sz="1800" dirty="0" smtClean="0">
                <a:solidFill>
                  <a:schemeClr val="tx1"/>
                </a:solidFill>
              </a:rPr>
              <a:t>: Analyze </a:t>
            </a:r>
            <a:r>
              <a:rPr lang="en-US" sz="1800" dirty="0">
                <a:solidFill>
                  <a:schemeClr val="tx1"/>
                </a:solidFill>
              </a:rPr>
              <a:t>current technology usage and future technology trends. </a:t>
            </a:r>
          </a:p>
          <a:p>
            <a:pPr>
              <a:lnSpc>
                <a:spcPct val="100000"/>
              </a:lnSpc>
            </a:pPr>
            <a:r>
              <a:rPr lang="en-US" sz="1800" b="1" dirty="0">
                <a:solidFill>
                  <a:schemeClr val="tx1"/>
                </a:solidFill>
              </a:rPr>
              <a:t>Point </a:t>
            </a:r>
            <a:r>
              <a:rPr lang="en-US" sz="1800" b="1" dirty="0" smtClean="0">
                <a:solidFill>
                  <a:schemeClr val="tx1"/>
                </a:solidFill>
              </a:rPr>
              <a:t>2</a:t>
            </a:r>
            <a:r>
              <a:rPr lang="en-US" sz="1800" dirty="0" smtClean="0">
                <a:solidFill>
                  <a:schemeClr val="tx1"/>
                </a:solidFill>
              </a:rPr>
              <a:t>: Identify </a:t>
            </a:r>
            <a:r>
              <a:rPr lang="en-US" sz="1800" dirty="0">
                <a:solidFill>
                  <a:schemeClr val="tx1"/>
                </a:solidFill>
              </a:rPr>
              <a:t>the most in-demand programming languages, databases, platforms, and web frameworks. </a:t>
            </a:r>
          </a:p>
          <a:p>
            <a:pPr>
              <a:lnSpc>
                <a:spcPct val="100000"/>
              </a:lnSpc>
            </a:pPr>
            <a:r>
              <a:rPr lang="en-US" sz="1800" b="1" dirty="0">
                <a:solidFill>
                  <a:schemeClr val="tx1"/>
                </a:solidFill>
              </a:rPr>
              <a:t>Point </a:t>
            </a:r>
            <a:r>
              <a:rPr lang="en-US" sz="1800" b="1" dirty="0" smtClean="0">
                <a:solidFill>
                  <a:schemeClr val="tx1"/>
                </a:solidFill>
              </a:rPr>
              <a:t>3</a:t>
            </a:r>
            <a:r>
              <a:rPr lang="en-US" sz="1800" dirty="0" smtClean="0">
                <a:solidFill>
                  <a:schemeClr val="tx1"/>
                </a:solidFill>
              </a:rPr>
              <a:t>: Present </a:t>
            </a:r>
            <a:r>
              <a:rPr lang="en-US" sz="1800" dirty="0">
                <a:solidFill>
                  <a:schemeClr val="tx1"/>
                </a:solidFill>
              </a:rPr>
              <a:t>insights using data visualization and interactive dashboards. </a:t>
            </a:r>
          </a:p>
          <a:p>
            <a:pPr>
              <a:lnSpc>
                <a:spcPct val="100000"/>
              </a:lnSpc>
            </a:pPr>
            <a:r>
              <a:rPr lang="en-US" sz="1800" b="1" dirty="0">
                <a:solidFill>
                  <a:schemeClr val="tx1"/>
                </a:solidFill>
              </a:rPr>
              <a:t>Point </a:t>
            </a:r>
            <a:r>
              <a:rPr lang="en-US" sz="1800" b="1" dirty="0" smtClean="0">
                <a:solidFill>
                  <a:schemeClr val="tx1"/>
                </a:solidFill>
              </a:rPr>
              <a:t>4</a:t>
            </a:r>
            <a:r>
              <a:rPr lang="en-US" sz="1800" dirty="0" smtClean="0">
                <a:solidFill>
                  <a:schemeClr val="tx1"/>
                </a:solidFill>
              </a:rPr>
              <a:t>: Support </a:t>
            </a:r>
            <a:r>
              <a:rPr lang="en-US" sz="1800" dirty="0">
                <a:solidFill>
                  <a:schemeClr val="tx1"/>
                </a:solidFill>
              </a:rPr>
              <a:t>data-driven decision-making for career planning and technology adoption. </a:t>
            </a:r>
            <a:endParaRPr lang="en-US" sz="1800" dirty="0" smtClean="0">
              <a:solidFill>
                <a:schemeClr val="tx1"/>
              </a:solidFill>
            </a:endParaRPr>
          </a:p>
          <a:p>
            <a:pPr marL="0" indent="0">
              <a:lnSpc>
                <a:spcPct val="100000"/>
              </a:lnSpc>
              <a:buNone/>
            </a:pPr>
            <a:r>
              <a:rPr lang="en-US" sz="1800" b="1" dirty="0" smtClean="0">
                <a:solidFill>
                  <a:schemeClr val="tx1"/>
                </a:solidFill>
              </a:rPr>
              <a:t>Sub Point 1</a:t>
            </a:r>
            <a:r>
              <a:rPr lang="en-US" sz="1800" dirty="0" smtClean="0">
                <a:solidFill>
                  <a:schemeClr val="tx1"/>
                </a:solidFill>
              </a:rPr>
              <a:t>: Target </a:t>
            </a:r>
            <a:r>
              <a:rPr lang="en-US" sz="1800" dirty="0">
                <a:solidFill>
                  <a:schemeClr val="tx1"/>
                </a:solidFill>
              </a:rPr>
              <a:t>Audience: Students, </a:t>
            </a:r>
            <a:r>
              <a:rPr lang="en-US" sz="1800" dirty="0" smtClean="0">
                <a:solidFill>
                  <a:schemeClr val="tx1"/>
                </a:solidFill>
              </a:rPr>
              <a:t>   developers</a:t>
            </a:r>
            <a:r>
              <a:rPr lang="en-US" sz="1800" dirty="0">
                <a:solidFill>
                  <a:schemeClr val="tx1"/>
                </a:solidFill>
              </a:rPr>
              <a:t>, recruiters, and business professionals. </a:t>
            </a:r>
          </a:p>
          <a:p>
            <a:pPr marL="0" indent="0">
              <a:lnSpc>
                <a:spcPct val="100000"/>
              </a:lnSpc>
              <a:buNone/>
            </a:pPr>
            <a:r>
              <a:rPr lang="en-US" sz="1800" b="1" dirty="0" smtClean="0">
                <a:solidFill>
                  <a:schemeClr val="tx1"/>
                </a:solidFill>
              </a:rPr>
              <a:t>Sub </a:t>
            </a:r>
            <a:r>
              <a:rPr lang="en-US" sz="1800" b="1" dirty="0">
                <a:solidFill>
                  <a:schemeClr val="tx1"/>
                </a:solidFill>
              </a:rPr>
              <a:t>Point </a:t>
            </a:r>
            <a:r>
              <a:rPr lang="en-US" sz="1800" b="1" dirty="0" smtClean="0">
                <a:solidFill>
                  <a:schemeClr val="tx1"/>
                </a:solidFill>
              </a:rPr>
              <a:t>2</a:t>
            </a:r>
            <a:r>
              <a:rPr lang="en-US" sz="1800" dirty="0" smtClean="0">
                <a:solidFill>
                  <a:schemeClr val="tx1"/>
                </a:solidFill>
              </a:rPr>
              <a:t>: Tools </a:t>
            </a:r>
            <a:r>
              <a:rPr lang="en-US" sz="1800" dirty="0">
                <a:solidFill>
                  <a:schemeClr val="tx1"/>
                </a:solidFill>
              </a:rPr>
              <a:t>Used: Python, SQL, IBM </a:t>
            </a:r>
            <a:r>
              <a:rPr lang="en-US" sz="1800" dirty="0" err="1">
                <a:solidFill>
                  <a:schemeClr val="tx1"/>
                </a:solidFill>
              </a:rPr>
              <a:t>Cognos</a:t>
            </a:r>
            <a:r>
              <a:rPr lang="en-US" sz="1800" dirty="0">
                <a:solidFill>
                  <a:schemeClr val="tx1"/>
                </a:solidFill>
              </a:rPr>
              <a:t> Analytics, and Microsoft PowerPoint.</a:t>
            </a: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385AB7E7-7534-10CB-A359-88015C285B97}"/>
              </a:ext>
            </a:extLst>
          </p:cNvPr>
          <p:cNvSpPr>
            <a:spLocks noGrp="1"/>
          </p:cNvSpPr>
          <p:nvPr>
            <p:ph type="title"/>
          </p:nvPr>
        </p:nvSpPr>
        <p:spPr>
          <a:xfrm>
            <a:off x="664066" y="582714"/>
            <a:ext cx="10571747" cy="685799"/>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xmlns="" id="{5EF8C842-232A-AE37-3471-90353781809D}"/>
              </a:ext>
            </a:extLst>
          </p:cNvPr>
          <p:cNvSpPr txBox="1">
            <a:spLocks/>
          </p:cNvSpPr>
          <p:nvPr/>
        </p:nvSpPr>
        <p:spPr>
          <a:xfrm>
            <a:off x="2802195" y="1599317"/>
            <a:ext cx="9173496" cy="451300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just">
              <a:buNone/>
            </a:pPr>
            <a:r>
              <a:rPr lang="en-US" sz="1800" b="1" dirty="0"/>
              <a:t>Data Sources, Data Collection &amp; Data Wrangling Steps</a:t>
            </a:r>
            <a:endParaRPr lang="en-US" sz="1800" dirty="0"/>
          </a:p>
          <a:p>
            <a:pPr marL="0" indent="0" algn="just">
              <a:buNone/>
            </a:pPr>
            <a:r>
              <a:rPr lang="en-US" sz="1800" b="1" dirty="0"/>
              <a:t>Point </a:t>
            </a:r>
            <a:r>
              <a:rPr lang="en-US" sz="1800" b="1" dirty="0" smtClean="0"/>
              <a:t>1</a:t>
            </a:r>
            <a:r>
              <a:rPr lang="en-US" sz="1800" dirty="0" smtClean="0"/>
              <a:t>: Collected </a:t>
            </a:r>
            <a:r>
              <a:rPr lang="en-US" sz="1800" dirty="0"/>
              <a:t>data from job postings and the Stack Overflow Developer Survey dataset. </a:t>
            </a:r>
          </a:p>
          <a:p>
            <a:pPr marL="0" indent="0" algn="just">
              <a:buNone/>
            </a:pPr>
            <a:r>
              <a:rPr lang="en-US" sz="1800" b="1" dirty="0" smtClean="0"/>
              <a:t>Point 2</a:t>
            </a:r>
            <a:r>
              <a:rPr lang="en-US" sz="1800" dirty="0" smtClean="0"/>
              <a:t>: Imported </a:t>
            </a:r>
            <a:r>
              <a:rPr lang="en-US" sz="1800" dirty="0"/>
              <a:t>and explored the datasets using Python and SQL. </a:t>
            </a:r>
          </a:p>
          <a:p>
            <a:pPr marL="0" indent="0" algn="just">
              <a:buNone/>
            </a:pPr>
            <a:r>
              <a:rPr lang="en-US" sz="1800" b="1" dirty="0"/>
              <a:t>Point </a:t>
            </a:r>
            <a:r>
              <a:rPr lang="en-US" sz="1800" b="1" dirty="0" smtClean="0"/>
              <a:t>3</a:t>
            </a:r>
            <a:r>
              <a:rPr lang="en-US" sz="1800" dirty="0" smtClean="0"/>
              <a:t>: Performed </a:t>
            </a:r>
            <a:r>
              <a:rPr lang="en-US" sz="1800" dirty="0"/>
              <a:t>data cleaning and preprocessing to improve data quality. </a:t>
            </a:r>
          </a:p>
          <a:p>
            <a:pPr marL="0" indent="0" algn="just">
              <a:buNone/>
            </a:pPr>
            <a:r>
              <a:rPr lang="en-US" sz="1800" b="1" dirty="0"/>
              <a:t>Point </a:t>
            </a:r>
            <a:r>
              <a:rPr lang="en-US" sz="1800" b="1" dirty="0" smtClean="0"/>
              <a:t>4</a:t>
            </a:r>
            <a:r>
              <a:rPr lang="en-US" sz="1800" dirty="0" smtClean="0"/>
              <a:t>: Conducted </a:t>
            </a:r>
            <a:r>
              <a:rPr lang="en-US" sz="1800" dirty="0"/>
              <a:t>exploratory data analysis and created interactive dashboards using IBM </a:t>
            </a:r>
            <a:r>
              <a:rPr lang="en-US" sz="1800" dirty="0" err="1"/>
              <a:t>Cognos</a:t>
            </a:r>
            <a:r>
              <a:rPr lang="en-US" sz="1800" dirty="0"/>
              <a:t> Analytics. </a:t>
            </a:r>
          </a:p>
          <a:p>
            <a:pPr marL="0" indent="0" algn="just">
              <a:buNone/>
            </a:pPr>
            <a:r>
              <a:rPr lang="en-US" sz="1800" b="1" dirty="0"/>
              <a:t>Sub Point 1</a:t>
            </a:r>
            <a:endParaRPr lang="en-US" sz="1800" dirty="0"/>
          </a:p>
          <a:p>
            <a:pPr algn="just"/>
            <a:r>
              <a:rPr lang="en-US" sz="1800" dirty="0"/>
              <a:t>Data wrangling included handling missing values, removing duplicates, and converting data types. </a:t>
            </a:r>
          </a:p>
          <a:p>
            <a:pPr marL="0" indent="0" algn="just">
              <a:buNone/>
            </a:pPr>
            <a:r>
              <a:rPr lang="en-US" sz="1800" b="1" dirty="0"/>
              <a:t>Sub Point 2</a:t>
            </a:r>
            <a:endParaRPr lang="en-US" sz="1800" dirty="0"/>
          </a:p>
          <a:p>
            <a:pPr algn="just"/>
            <a:r>
              <a:rPr lang="en-US" sz="1800" dirty="0"/>
              <a:t>Visualizations were created using Python libraries and IBM </a:t>
            </a:r>
            <a:r>
              <a:rPr lang="en-US" sz="1800" dirty="0" err="1"/>
              <a:t>Cognos</a:t>
            </a:r>
            <a:r>
              <a:rPr lang="en-US" sz="1800" dirty="0"/>
              <a:t> to identify technology trends and demographic insights.</a:t>
            </a:r>
          </a:p>
        </p:txBody>
      </p:sp>
      <p:pic>
        <p:nvPicPr>
          <p:cNvPr id="4" name="Picture 3">
            <a:extLst>
              <a:ext uri="{FF2B5EF4-FFF2-40B4-BE49-F238E27FC236}">
                <a16:creationId xmlns:a16="http://schemas.microsoft.com/office/drawing/2014/main" xmlns="" id="{280CF71F-8A03-DAC7-4BC2-F05644ECBFFF}"/>
              </a:ext>
            </a:extLst>
          </p:cNvPr>
          <p:cNvPicPr>
            <a:picLocks noChangeAspect="1"/>
          </p:cNvPicPr>
          <p:nvPr/>
        </p:nvPicPr>
        <p:blipFill>
          <a:blip r:embed="rId3"/>
          <a:stretch>
            <a:fillRect/>
          </a:stretch>
        </p:blipFill>
        <p:spPr>
          <a:xfrm>
            <a:off x="104585" y="2687237"/>
            <a:ext cx="2284654" cy="2337169"/>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2947B35-92B8-C737-3DEB-4A57887A1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D09CC39-D393-D59D-E066-37C17FD3C522}"/>
              </a:ext>
            </a:extLst>
          </p:cNvPr>
          <p:cNvSpPr>
            <a:spLocks noGrp="1"/>
          </p:cNvSpPr>
          <p:nvPr>
            <p:ph type="title"/>
          </p:nvPr>
        </p:nvSpPr>
        <p:spPr>
          <a:xfrm>
            <a:off x="782053" y="398033"/>
            <a:ext cx="10571747" cy="1091735"/>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xmlns="" id="{E000DDB6-5B82-F3F8-80C1-FE555825BAF5}"/>
              </a:ext>
            </a:extLst>
          </p:cNvPr>
          <p:cNvSpPr txBox="1">
            <a:spLocks/>
          </p:cNvSpPr>
          <p:nvPr/>
        </p:nvSpPr>
        <p:spPr>
          <a:xfrm>
            <a:off x="2684207" y="1680153"/>
            <a:ext cx="866959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pic>
        <p:nvPicPr>
          <p:cNvPr id="6" name="Graphic 5" descr="Presentation with pie chart with solid fill">
            <a:extLst>
              <a:ext uri="{FF2B5EF4-FFF2-40B4-BE49-F238E27FC236}">
                <a16:creationId xmlns:a16="http://schemas.microsoft.com/office/drawing/2014/main" xmlns="" id="{1D5615A7-55B9-E0F5-0A84-57A35A57B055}"/>
              </a:ext>
            </a:extLst>
          </p:cNvPr>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233495" y="2268324"/>
            <a:ext cx="2264347" cy="2264347"/>
          </a:xfrm>
          <a:prstGeom prst="rect">
            <a:avLst/>
          </a:prstGeom>
        </p:spPr>
      </p:pic>
      <p:sp>
        <p:nvSpPr>
          <p:cNvPr id="5" name="Rectangle 1"/>
          <p:cNvSpPr>
            <a:spLocks noChangeArrowheads="1"/>
          </p:cNvSpPr>
          <p:nvPr/>
        </p:nvSpPr>
        <p:spPr bwMode="auto">
          <a:xfrm>
            <a:off x="3283972" y="1900086"/>
            <a:ext cx="7934634"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i="0" u="none" strike="noStrike" cap="none" normalizeH="0" baseline="0" dirty="0" smtClean="0">
                <a:ln>
                  <a:noFill/>
                </a:ln>
                <a:solidFill>
                  <a:schemeClr val="tx1"/>
                </a:solidFill>
                <a:effectLst/>
                <a:latin typeface="Arial" panose="020B0604020202020204" pitchFamily="34" charset="0"/>
              </a:rPr>
              <a:t>This section presents the key findings of the analysis performed during the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i="0" u="none" strike="noStrike" cap="none" normalizeH="0" baseline="0" dirty="0" smtClean="0">
                <a:ln>
                  <a:noFill/>
                </a:ln>
                <a:solidFill>
                  <a:schemeClr val="tx1"/>
                </a:solidFill>
                <a:effectLst/>
                <a:latin typeface="Arial" panose="020B0604020202020204" pitchFamily="34" charset="0"/>
              </a:rPr>
              <a:t>capstone project. The following slides summarize the results obtained from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i="0" u="none" strike="noStrike" cap="none" normalizeH="0" baseline="0" dirty="0" smtClean="0">
                <a:ln>
                  <a:noFill/>
                </a:ln>
                <a:solidFill>
                  <a:schemeClr val="tx1"/>
                </a:solidFill>
                <a:effectLst/>
                <a:latin typeface="Arial" panose="020B0604020202020204" pitchFamily="34" charset="0"/>
              </a:rPr>
              <a:t>job market analysis, technology trends, data exploration, and dashboard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i="0" u="none" strike="noStrike" cap="none" normalizeH="0" baseline="0" dirty="0" smtClean="0">
                <a:ln>
                  <a:noFill/>
                </a:ln>
                <a:solidFill>
                  <a:schemeClr val="tx1"/>
                </a:solidFill>
                <a:effectLst/>
                <a:latin typeface="Arial" panose="020B0604020202020204" pitchFamily="34" charset="0"/>
              </a:rPr>
              <a:t>visualizations using Python and IBM </a:t>
            </a:r>
            <a:r>
              <a:rPr kumimoji="0" lang="en-US" altLang="en-US" i="0" u="none" strike="noStrike" cap="none" normalizeH="0" baseline="0" dirty="0" err="1" smtClean="0">
                <a:ln>
                  <a:noFill/>
                </a:ln>
                <a:solidFill>
                  <a:schemeClr val="tx1"/>
                </a:solidFill>
                <a:effectLst/>
                <a:latin typeface="Arial" panose="020B0604020202020204" pitchFamily="34" charset="0"/>
              </a:rPr>
              <a:t>Cognos</a:t>
            </a:r>
            <a:r>
              <a:rPr kumimoji="0" lang="en-US" altLang="en-US" i="0" u="none" strike="noStrike" cap="none" normalizeH="0" baseline="0" dirty="0" smtClean="0">
                <a:ln>
                  <a:noFill/>
                </a:ln>
                <a:solidFill>
                  <a:schemeClr val="tx1"/>
                </a:solidFill>
                <a:effectLst/>
                <a:latin typeface="Arial" panose="020B0604020202020204" pitchFamily="34" charset="0"/>
              </a:rPr>
              <a:t> Analytics.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i="0" u="none" strike="noStrike" cap="none" normalizeH="0" baseline="0" dirty="0" smtClean="0">
                <a:ln>
                  <a:noFill/>
                </a:ln>
                <a:solidFill>
                  <a:schemeClr val="tx1"/>
                </a:solidFill>
                <a:effectLst/>
                <a:latin typeface="Arial" panose="020B0604020202020204" pitchFamily="34" charset="0"/>
              </a:rPr>
              <a:t>The following slides present the key results and insights obtained from the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i="0" u="none" strike="noStrike" cap="none" normalizeH="0" baseline="0" dirty="0" smtClean="0">
                <a:ln>
                  <a:noFill/>
                </a:ln>
                <a:solidFill>
                  <a:schemeClr val="tx1"/>
                </a:solidFill>
                <a:effectLst/>
                <a:latin typeface="Arial" panose="020B0604020202020204" pitchFamily="34" charset="0"/>
              </a:rPr>
              <a:t>data analysis and dashboard visualizations.</a:t>
            </a:r>
          </a:p>
        </p:txBody>
      </p:sp>
    </p:spTree>
    <p:custDataLst>
      <p:tags r:id="rId1"/>
    </p:custDataLst>
    <p:extLst>
      <p:ext uri="{BB962C8B-B14F-4D97-AF65-F5344CB8AC3E}">
        <p14:creationId xmlns:p14="http://schemas.microsoft.com/office/powerpoint/2010/main" val="1501327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xmlns="" id="{8334EF5D-2E2A-7FE5-06C6-01ACAB1F420F}"/>
              </a:ext>
            </a:extLst>
          </p:cNvPr>
          <p:cNvSpPr>
            <a:spLocks noGrp="1"/>
          </p:cNvSpPr>
          <p:nvPr>
            <p:ph type="title"/>
          </p:nvPr>
        </p:nvSpPr>
        <p:spPr>
          <a:xfrm>
            <a:off x="633845" y="383051"/>
            <a:ext cx="5833456" cy="1325563"/>
          </a:xfrm>
        </p:spPr>
        <p:txBody>
          <a:bodyPr anchor="ctr">
            <a:normAutofit/>
          </a:bodyPr>
          <a:lstStyle/>
          <a:p>
            <a:r>
              <a:rPr lang="en-US" dirty="0"/>
              <a:t> JOB POSTINGS</a:t>
            </a:r>
          </a:p>
        </p:txBody>
      </p:sp>
      <p:sp>
        <p:nvSpPr>
          <p:cNvPr id="10" name="Content Placeholder 2">
            <a:extLst>
              <a:ext uri="{FF2B5EF4-FFF2-40B4-BE49-F238E27FC236}">
                <a16:creationId xmlns:a16="http://schemas.microsoft.com/office/drawing/2014/main" xmlns="" id="{83F79416-0AFB-FC80-07E8-3CF2B4E7E798}"/>
              </a:ext>
            </a:extLst>
          </p:cNvPr>
          <p:cNvSpPr txBox="1">
            <a:spLocks/>
          </p:cNvSpPr>
          <p:nvPr/>
        </p:nvSpPr>
        <p:spPr>
          <a:xfrm>
            <a:off x="914400" y="1602659"/>
            <a:ext cx="10489276" cy="44540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800" b="1" dirty="0" smtClean="0"/>
              <a:t>Title:</a:t>
            </a:r>
            <a:r>
              <a:rPr lang="en-US" sz="1800" dirty="0" smtClean="0"/>
              <a:t> </a:t>
            </a:r>
            <a:r>
              <a:rPr lang="en-US" sz="1800" b="1" dirty="0" smtClean="0"/>
              <a:t>Job </a:t>
            </a:r>
            <a:r>
              <a:rPr lang="en-US" sz="1800" b="1" dirty="0"/>
              <a:t>Postings Analysis</a:t>
            </a:r>
            <a:endParaRPr lang="en-US" sz="1800" dirty="0"/>
          </a:p>
          <a:p>
            <a:r>
              <a:rPr lang="en-US" sz="1800" b="1" dirty="0"/>
              <a:t>Bullet Points:</a:t>
            </a:r>
            <a:endParaRPr lang="en-US" sz="1800" dirty="0"/>
          </a:p>
          <a:p>
            <a:r>
              <a:rPr lang="en-US" sz="1800" dirty="0"/>
              <a:t>The chart shows the number of job postings </a:t>
            </a:r>
            <a:endParaRPr lang="en-US" sz="1800" dirty="0" smtClean="0"/>
          </a:p>
          <a:p>
            <a:pPr marL="0" indent="0">
              <a:buNone/>
            </a:pPr>
            <a:r>
              <a:rPr lang="en-US" sz="1800" dirty="0" smtClean="0"/>
              <a:t>by </a:t>
            </a:r>
            <a:r>
              <a:rPr lang="en-US" sz="1800" dirty="0"/>
              <a:t>technology. </a:t>
            </a:r>
          </a:p>
          <a:p>
            <a:r>
              <a:rPr lang="en-US" sz="1800" dirty="0"/>
              <a:t>The results are sorted in descending order. </a:t>
            </a:r>
          </a:p>
          <a:p>
            <a:r>
              <a:rPr lang="en-US" sz="1800" dirty="0"/>
              <a:t>Technologies with more job postings have </a:t>
            </a:r>
            <a:endParaRPr lang="en-US" sz="1800" dirty="0" smtClean="0"/>
          </a:p>
          <a:p>
            <a:pPr marL="0" indent="0">
              <a:buNone/>
            </a:pPr>
            <a:r>
              <a:rPr lang="en-US" sz="1800" dirty="0" smtClean="0"/>
              <a:t>higher </a:t>
            </a:r>
            <a:r>
              <a:rPr lang="en-US" sz="1800" dirty="0"/>
              <a:t>market demand.</a:t>
            </a:r>
          </a:p>
        </p:txBody>
      </p:sp>
      <p:graphicFrame>
        <p:nvGraphicFramePr>
          <p:cNvPr id="4" name="Chart 3"/>
          <p:cNvGraphicFramePr>
            <a:graphicFrameLocks/>
          </p:cNvGraphicFramePr>
          <p:nvPr>
            <p:extLst>
              <p:ext uri="{D42A27DB-BD31-4B8C-83A1-F6EECF244321}">
                <p14:modId xmlns:p14="http://schemas.microsoft.com/office/powerpoint/2010/main" val="2680126526"/>
              </p:ext>
            </p:extLst>
          </p:nvPr>
        </p:nvGraphicFramePr>
        <p:xfrm>
          <a:off x="5535561" y="1602659"/>
          <a:ext cx="5811657" cy="3588773"/>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1"/>
    </p:custDataLst>
    <p:extLst>
      <p:ext uri="{BB962C8B-B14F-4D97-AF65-F5344CB8AC3E}">
        <p14:creationId xmlns:p14="http://schemas.microsoft.com/office/powerpoint/2010/main" val="1935373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xmlns="" id="{12CF5900-71B3-70B0-7CF1-4A1C535AD04B}"/>
              </a:ext>
            </a:extLst>
          </p:cNvPr>
          <p:cNvSpPr>
            <a:spLocks noGrp="1"/>
          </p:cNvSpPr>
          <p:nvPr>
            <p:ph type="title"/>
          </p:nvPr>
        </p:nvSpPr>
        <p:spPr>
          <a:xfrm>
            <a:off x="758536" y="0"/>
            <a:ext cx="5708765" cy="1325563"/>
          </a:xfrm>
        </p:spPr>
        <p:txBody>
          <a:bodyPr anchor="ctr">
            <a:normAutofit/>
          </a:bodyPr>
          <a:lstStyle/>
          <a:p>
            <a:r>
              <a:rPr lang="en-US" dirty="0"/>
              <a:t>POPULAR LANGUAGES</a:t>
            </a:r>
          </a:p>
        </p:txBody>
      </p:sp>
      <p:sp>
        <p:nvSpPr>
          <p:cNvPr id="7" name="Content Placeholder 2">
            <a:extLst>
              <a:ext uri="{FF2B5EF4-FFF2-40B4-BE49-F238E27FC236}">
                <a16:creationId xmlns:a16="http://schemas.microsoft.com/office/drawing/2014/main" xmlns="" id="{95B1AABA-34AF-B1F5-3C7F-11AEB9E03637}"/>
              </a:ext>
            </a:extLst>
          </p:cNvPr>
          <p:cNvSpPr txBox="1">
            <a:spLocks/>
          </p:cNvSpPr>
          <p:nvPr/>
        </p:nvSpPr>
        <p:spPr>
          <a:xfrm>
            <a:off x="758536" y="1708614"/>
            <a:ext cx="10525371"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p>
        </p:txBody>
      </p:sp>
      <p:graphicFrame>
        <p:nvGraphicFramePr>
          <p:cNvPr id="4" name="Chart 3"/>
          <p:cNvGraphicFramePr>
            <a:graphicFrameLocks/>
          </p:cNvGraphicFramePr>
          <p:nvPr>
            <p:extLst>
              <p:ext uri="{D42A27DB-BD31-4B8C-83A1-F6EECF244321}">
                <p14:modId xmlns:p14="http://schemas.microsoft.com/office/powerpoint/2010/main" val="557603267"/>
              </p:ext>
            </p:extLst>
          </p:nvPr>
        </p:nvGraphicFramePr>
        <p:xfrm>
          <a:off x="6883931" y="1592826"/>
          <a:ext cx="4757463" cy="3628103"/>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2"/>
          <p:cNvSpPr>
            <a:spLocks noChangeArrowheads="1"/>
          </p:cNvSpPr>
          <p:nvPr/>
        </p:nvSpPr>
        <p:spPr bwMode="auto">
          <a:xfrm>
            <a:off x="560439" y="1916578"/>
            <a:ext cx="6125395" cy="2446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The chart compares average salaries for </a:t>
            </a:r>
            <a:r>
              <a:rPr lang="en-US" altLang="en-US" dirty="0" smtClean="0">
                <a:latin typeface="Arial" panose="020B0604020202020204" pitchFamily="34" charset="0"/>
              </a:rPr>
              <a:t>popular</a:t>
            </a:r>
          </a:p>
          <a:p>
            <a:pPr lvl="0" eaLnBrk="0" fontAlgn="base" hangingPunct="0">
              <a:lnSpc>
                <a:spcPct val="150000"/>
              </a:lnSpc>
              <a:spcBef>
                <a:spcPct val="0"/>
              </a:spcBef>
              <a:spcAft>
                <a:spcPct val="0"/>
              </a:spcAft>
            </a:pPr>
            <a:r>
              <a:rPr lang="en-US" altLang="en-US" dirty="0" smtClean="0">
                <a:latin typeface="Arial" panose="020B0604020202020204" pitchFamily="34" charset="0"/>
              </a:rPr>
              <a:t> </a:t>
            </a:r>
            <a:r>
              <a:rPr lang="en-US" altLang="en-US" dirty="0">
                <a:latin typeface="Arial" panose="020B0604020202020204" pitchFamily="34" charset="0"/>
              </a:rPr>
              <a:t>programming languages. </a:t>
            </a: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Languages are sorted from highest to lowest salary. </a:t>
            </a:r>
          </a:p>
          <a:p>
            <a:pPr lvl="0" eaLnBrk="0" fontAlgn="base" hangingPunct="0">
              <a:lnSpc>
                <a:spcPct val="150000"/>
              </a:lnSpc>
              <a:spcBef>
                <a:spcPct val="0"/>
              </a:spcBef>
              <a:spcAft>
                <a:spcPct val="0"/>
              </a:spcAft>
              <a:buFontTx/>
              <a:buChar char="•"/>
            </a:pPr>
            <a:r>
              <a:rPr lang="en-US" altLang="en-US" dirty="0">
                <a:latin typeface="Arial" panose="020B0604020202020204" pitchFamily="34" charset="0"/>
              </a:rPr>
              <a:t>Higher-paid languages indicate stronger earning </a:t>
            </a:r>
            <a:r>
              <a:rPr lang="en-US" altLang="en-US" dirty="0" smtClean="0">
                <a:latin typeface="Arial" panose="020B0604020202020204" pitchFamily="34" charset="0"/>
              </a:rPr>
              <a:t>potential</a:t>
            </a:r>
          </a:p>
          <a:p>
            <a:pPr lvl="0" eaLnBrk="0" fontAlgn="base" hangingPunct="0">
              <a:lnSpc>
                <a:spcPct val="150000"/>
              </a:lnSpc>
              <a:spcBef>
                <a:spcPct val="0"/>
              </a:spcBef>
              <a:spcAft>
                <a:spcPct val="0"/>
              </a:spcAft>
            </a:pPr>
            <a:r>
              <a:rPr lang="en-US" altLang="en-US" dirty="0" smtClean="0">
                <a:latin typeface="Arial" panose="020B0604020202020204" pitchFamily="34" charset="0"/>
              </a:rPr>
              <a:t>in </a:t>
            </a:r>
            <a:r>
              <a:rPr lang="en-US" altLang="en-US" dirty="0">
                <a:latin typeface="Arial" panose="020B0604020202020204" pitchFamily="34" charset="0"/>
              </a:rPr>
              <a:t>the job market</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945902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xmlns="" id="{5539A591-4DF0-3912-FF72-3FD0BD7B9C1F}"/>
              </a:ext>
            </a:extLst>
          </p:cNvPr>
          <p:cNvSpPr>
            <a:spLocks noGrp="1"/>
          </p:cNvSpPr>
          <p:nvPr>
            <p:ph type="title"/>
          </p:nvPr>
        </p:nvSpPr>
        <p:spPr/>
        <p:txBody>
          <a:bodyPr/>
          <a:lstStyle/>
          <a:p>
            <a:r>
              <a:rPr lang="en-US" dirty="0"/>
              <a:t>PROGRAMMING LANGUAGE TRENDS</a:t>
            </a:r>
          </a:p>
        </p:txBody>
      </p:sp>
      <p:sp>
        <p:nvSpPr>
          <p:cNvPr id="8" name="Content Placeholder 2">
            <a:extLst>
              <a:ext uri="{FF2B5EF4-FFF2-40B4-BE49-F238E27FC236}">
                <a16:creationId xmlns:a16="http://schemas.microsoft.com/office/drawing/2014/main" xmlns="" id="{54B8C8AD-F58A-1F17-9CA2-E737E1949923}"/>
              </a:ext>
            </a:extLst>
          </p:cNvPr>
          <p:cNvSpPr>
            <a:spLocks noGrp="1"/>
          </p:cNvSpPr>
          <p:nvPr>
            <p:ph sz="half" idx="1"/>
          </p:nvPr>
        </p:nvSpPr>
        <p:spPr>
          <a:xfrm>
            <a:off x="924305" y="2063170"/>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xmlns="" id="{D9FB3B79-D3E9-99FC-ECF2-28CCBF64752F}"/>
              </a:ext>
            </a:extLst>
          </p:cNvPr>
          <p:cNvSpPr>
            <a:spLocks noGrp="1"/>
          </p:cNvSpPr>
          <p:nvPr>
            <p:ph sz="half" idx="2"/>
          </p:nvPr>
        </p:nvSpPr>
        <p:spPr>
          <a:xfrm>
            <a:off x="6172200" y="2063170"/>
            <a:ext cx="1758142" cy="501939"/>
          </a:xfrm>
        </p:spPr>
        <p:txBody>
          <a:bodyPr/>
          <a:lstStyle/>
          <a:p>
            <a:pPr marL="0" indent="0">
              <a:buNone/>
            </a:pPr>
            <a:r>
              <a:rPr lang="en-US" dirty="0"/>
              <a:t>Next Year</a:t>
            </a:r>
          </a:p>
        </p:txBody>
      </p:sp>
      <p:sp>
        <p:nvSpPr>
          <p:cNvPr id="10" name="Content Placeholder 2">
            <a:extLst>
              <a:ext uri="{FF2B5EF4-FFF2-40B4-BE49-F238E27FC236}">
                <a16:creationId xmlns:a16="http://schemas.microsoft.com/office/drawing/2014/main" xmlns="" id="{2DFAC5CF-1B58-ABB4-D63B-1D931D572459}"/>
              </a:ext>
            </a:extLst>
          </p:cNvPr>
          <p:cNvSpPr txBox="1">
            <a:spLocks/>
          </p:cNvSpPr>
          <p:nvPr/>
        </p:nvSpPr>
        <p:spPr>
          <a:xfrm>
            <a:off x="845473" y="2605805"/>
            <a:ext cx="4614949" cy="25659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Arial" panose="020B0604020202020204" pitchFamily="34" charset="0"/>
                <a:cs typeface="Arial" panose="020B0604020202020204" pitchFamily="34" charset="0"/>
              </a:rPr>
              <a:t>JavaScript, Python, and SQL dominate as the most widely used languages. Go and Swift show strong mid-tier usage, while PHP and C++ remain relevant in legacy systems.</a:t>
            </a:r>
            <a:endParaRPr lang="en-US" sz="1800" dirty="0">
              <a:solidFill>
                <a:schemeClr val="tx1"/>
              </a:solidFill>
              <a:latin typeface="Arial" panose="020B0604020202020204" pitchFamily="34" charset="0"/>
              <a:cs typeface="Arial" panose="020B0604020202020204" pitchFamily="34" charset="0"/>
            </a:endParaRPr>
          </a:p>
        </p:txBody>
      </p:sp>
      <p:sp>
        <p:nvSpPr>
          <p:cNvPr id="11" name="Content Placeholder 2">
            <a:extLst>
              <a:ext uri="{FF2B5EF4-FFF2-40B4-BE49-F238E27FC236}">
                <a16:creationId xmlns:a16="http://schemas.microsoft.com/office/drawing/2014/main" xmlns="" id="{FBAA9DB0-9EAC-9B25-C7F3-3CE83758128E}"/>
              </a:ext>
            </a:extLst>
          </p:cNvPr>
          <p:cNvSpPr txBox="1">
            <a:spLocks/>
          </p:cNvSpPr>
          <p:nvPr/>
        </p:nvSpPr>
        <p:spPr>
          <a:xfrm>
            <a:off x="6172200" y="2605805"/>
            <a:ext cx="4614949" cy="17498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dirty="0">
                <a:solidFill>
                  <a:schemeClr val="tx1"/>
                </a:solidFill>
                <a:latin typeface="Arial" panose="020B0604020202020204" pitchFamily="34" charset="0"/>
                <a:cs typeface="Arial" panose="020B0604020202020204" pitchFamily="34" charset="0"/>
              </a:rPr>
              <a:t>Python and JavaScript are projected to maintain top positions. Demand for Go and Rust is expected to rise due to cloud and systems programming growth, while PHP usage may continue to decline.</a:t>
            </a:r>
          </a:p>
        </p:txBody>
      </p:sp>
      <p:sp>
        <p:nvSpPr>
          <p:cNvPr id="3" name="TextBox 2">
            <a:extLst>
              <a:ext uri="{FF2B5EF4-FFF2-40B4-BE49-F238E27FC236}">
                <a16:creationId xmlns:a16="http://schemas.microsoft.com/office/drawing/2014/main" xmlns="" id="{551C5862-9AB9-9679-23B5-A950E973AFB5}"/>
              </a:ext>
            </a:extLst>
          </p:cNvPr>
          <p:cNvSpPr txBox="1"/>
          <p:nvPr/>
        </p:nvSpPr>
        <p:spPr>
          <a:xfrm>
            <a:off x="924305" y="1475244"/>
            <a:ext cx="10429495" cy="461665"/>
          </a:xfrm>
          <a:prstGeom prst="rect">
            <a:avLst/>
          </a:prstGeom>
          <a:noFill/>
        </p:spPr>
        <p:txBody>
          <a:bodyPr wrap="square" rtlCol="0">
            <a:spAutoFit/>
          </a:bodyPr>
          <a:lstStyle/>
          <a:p>
            <a:r>
              <a:rPr lang="en-US" sz="2400" dirty="0"/>
              <a:t>Summarize key trends shown in the charts.</a:t>
            </a:r>
          </a:p>
        </p:txBody>
      </p:sp>
    </p:spTree>
    <p:custDataLst>
      <p:tags r:id="rId1"/>
    </p:custDataLst>
    <p:extLst>
      <p:ext uri="{BB962C8B-B14F-4D97-AF65-F5344CB8AC3E}">
        <p14:creationId xmlns:p14="http://schemas.microsoft.com/office/powerpoint/2010/main" val="3684467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4444DA4-C4B2-2A92-8A96-C527D8D026A7}"/>
              </a:ext>
            </a:extLst>
          </p:cNvPr>
          <p:cNvSpPr>
            <a:spLocks noGrp="1"/>
          </p:cNvSpPr>
          <p:nvPr>
            <p:ph type="title"/>
          </p:nvPr>
        </p:nvSpPr>
        <p:spPr>
          <a:xfrm>
            <a:off x="613065" y="218209"/>
            <a:ext cx="11471562" cy="1330037"/>
          </a:xfrm>
        </p:spPr>
        <p:txBody>
          <a:bodyPr>
            <a:noAutofit/>
          </a:bodyPr>
          <a:lstStyle/>
          <a:p>
            <a:r>
              <a:rPr lang="en-US" dirty="0"/>
              <a:t>PROGRAMMING LANGUAGE TRENDS - FINDINGS &amp; IMPLICATIONS</a:t>
            </a:r>
          </a:p>
        </p:txBody>
      </p:sp>
      <p:sp>
        <p:nvSpPr>
          <p:cNvPr id="3" name="Content Placeholder 2">
            <a:extLst>
              <a:ext uri="{FF2B5EF4-FFF2-40B4-BE49-F238E27FC236}">
                <a16:creationId xmlns:a16="http://schemas.microsoft.com/office/drawing/2014/main" xmlns="" id="{0E85DDBB-31B7-4F81-1E76-90009348F1DE}"/>
              </a:ext>
            </a:extLst>
          </p:cNvPr>
          <p:cNvSpPr>
            <a:spLocks noGrp="1"/>
          </p:cNvSpPr>
          <p:nvPr>
            <p:ph sz="half" idx="1"/>
          </p:nvPr>
        </p:nvSpPr>
        <p:spPr>
          <a:xfrm>
            <a:off x="813816" y="1825625"/>
            <a:ext cx="5181600" cy="4351338"/>
          </a:xfrm>
        </p:spPr>
        <p:txBody>
          <a:bodyPr>
            <a:normAutofit/>
          </a:bodyPr>
          <a:lstStyle/>
          <a:p>
            <a:pPr marL="0" indent="0">
              <a:lnSpc>
                <a:spcPct val="150000"/>
              </a:lnSpc>
              <a:buNone/>
            </a:pPr>
            <a:r>
              <a:rPr lang="en-US" sz="1800" dirty="0"/>
              <a:t>Findings</a:t>
            </a:r>
            <a:r>
              <a:rPr lang="en-US" sz="1800" dirty="0" smtClean="0"/>
              <a:t>:</a:t>
            </a:r>
          </a:p>
          <a:p>
            <a:pPr marL="0" indent="0">
              <a:lnSpc>
                <a:spcPct val="150000"/>
              </a:lnSpc>
              <a:buNone/>
            </a:pPr>
            <a:r>
              <a:rPr lang="en-US" sz="1800" dirty="0" smtClean="0"/>
              <a:t>Finding </a:t>
            </a:r>
            <a:r>
              <a:rPr lang="en-US" sz="1800" dirty="0"/>
              <a:t>1: JavaScript and Python consistently rank as the highest-paid and most-used languages across industries</a:t>
            </a:r>
            <a:r>
              <a:rPr lang="en-US" sz="1800" dirty="0" smtClean="0"/>
              <a:t>.</a:t>
            </a:r>
          </a:p>
          <a:p>
            <a:pPr marL="0" indent="0">
              <a:lnSpc>
                <a:spcPct val="150000"/>
              </a:lnSpc>
              <a:buNone/>
            </a:pPr>
            <a:r>
              <a:rPr lang="en-US" sz="1800" dirty="0" smtClean="0"/>
              <a:t>Finding </a:t>
            </a:r>
            <a:r>
              <a:rPr lang="en-US" sz="1800" dirty="0"/>
              <a:t>2: Go and Swift offer above-average salaries despite lower overall usage, indicating high demand for specialized skills</a:t>
            </a:r>
            <a:r>
              <a:rPr lang="en-US" sz="1800" dirty="0" smtClean="0"/>
              <a:t>.</a:t>
            </a:r>
          </a:p>
          <a:p>
            <a:pPr marL="0" indent="0">
              <a:lnSpc>
                <a:spcPct val="150000"/>
              </a:lnSpc>
              <a:buNone/>
            </a:pPr>
            <a:r>
              <a:rPr lang="en-US" sz="1800" dirty="0" smtClean="0"/>
              <a:t>Finding </a:t>
            </a:r>
            <a:r>
              <a:rPr lang="en-US" sz="1800" dirty="0"/>
              <a:t>3: Languages like PHP and C++ show lower average salaries, reflecting market saturation.</a:t>
            </a:r>
            <a:endParaRPr lang="en-US" sz="1800" dirty="0"/>
          </a:p>
        </p:txBody>
      </p:sp>
      <p:sp>
        <p:nvSpPr>
          <p:cNvPr id="4" name="Content Placeholder 3">
            <a:extLst>
              <a:ext uri="{FF2B5EF4-FFF2-40B4-BE49-F238E27FC236}">
                <a16:creationId xmlns:a16="http://schemas.microsoft.com/office/drawing/2014/main" xmlns="" id="{D2166E7F-5223-7C98-EBC0-E8FA35940F98}"/>
              </a:ext>
            </a:extLst>
          </p:cNvPr>
          <p:cNvSpPr>
            <a:spLocks noGrp="1"/>
          </p:cNvSpPr>
          <p:nvPr>
            <p:ph sz="half" idx="2"/>
          </p:nvPr>
        </p:nvSpPr>
        <p:spPr>
          <a:xfrm>
            <a:off x="6172200" y="1825625"/>
            <a:ext cx="5181600" cy="4351338"/>
          </a:xfrm>
        </p:spPr>
        <p:txBody>
          <a:bodyPr>
            <a:normAutofit/>
          </a:bodyPr>
          <a:lstStyle/>
          <a:p>
            <a:pPr marL="0" indent="0">
              <a:lnSpc>
                <a:spcPct val="150000"/>
              </a:lnSpc>
              <a:buNone/>
            </a:pPr>
            <a:r>
              <a:rPr lang="en-US" sz="1800" dirty="0"/>
              <a:t>Implications</a:t>
            </a:r>
            <a:r>
              <a:rPr lang="en-US" sz="1800" dirty="0" smtClean="0"/>
              <a:t>:</a:t>
            </a:r>
          </a:p>
          <a:p>
            <a:pPr marL="0" indent="0">
              <a:lnSpc>
                <a:spcPct val="150000"/>
              </a:lnSpc>
              <a:buNone/>
            </a:pPr>
            <a:r>
              <a:rPr lang="en-US" sz="1800" dirty="0" smtClean="0"/>
              <a:t>Implication </a:t>
            </a:r>
            <a:r>
              <a:rPr lang="en-US" sz="1800" dirty="0"/>
              <a:t>1: Developers should prioritize learning Python and JavaScript to maximize employability and earning potential</a:t>
            </a:r>
            <a:r>
              <a:rPr lang="en-US" sz="1800" dirty="0" smtClean="0"/>
              <a:t>.</a:t>
            </a:r>
          </a:p>
          <a:p>
            <a:pPr marL="0" indent="0">
              <a:lnSpc>
                <a:spcPct val="150000"/>
              </a:lnSpc>
              <a:buNone/>
            </a:pPr>
            <a:r>
              <a:rPr lang="en-US" sz="1800" dirty="0" smtClean="0"/>
              <a:t>Implication </a:t>
            </a:r>
            <a:r>
              <a:rPr lang="en-US" sz="1800" dirty="0"/>
              <a:t>2: Investing in Go or Swift skills can lead to higher compensation in niche but growing markets</a:t>
            </a:r>
            <a:r>
              <a:rPr lang="en-US" sz="1800" dirty="0" smtClean="0"/>
              <a:t>.</a:t>
            </a:r>
          </a:p>
          <a:p>
            <a:pPr marL="0" indent="0">
              <a:lnSpc>
                <a:spcPct val="150000"/>
              </a:lnSpc>
              <a:buNone/>
            </a:pPr>
            <a:r>
              <a:rPr lang="en-US" sz="1800" dirty="0" smtClean="0"/>
              <a:t>Implication </a:t>
            </a:r>
            <a:r>
              <a:rPr lang="en-US" sz="1800" dirty="0"/>
              <a:t>3: Organizations should plan transitions away from lower-paying legacy languages to stay competitive in talent acquisition.</a:t>
            </a:r>
            <a:endParaRPr lang="en-US" sz="1800" dirty="0"/>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xmlns="" id="{6C2B3FA5-2985-EAFB-8885-6820D4058AF4}"/>
              </a:ext>
            </a:extLst>
          </p:cNvPr>
          <p:cNvSpPr>
            <a:spLocks noGrp="1"/>
          </p:cNvSpPr>
          <p:nvPr>
            <p:ph sz="half" idx="1"/>
          </p:nvPr>
        </p:nvSpPr>
        <p:spPr>
          <a:xfrm>
            <a:off x="813816" y="2065128"/>
            <a:ext cx="2228642" cy="501939"/>
          </a:xfrm>
        </p:spPr>
        <p:txBody>
          <a:bodyPr>
            <a:normAutofit fontScale="70000" lnSpcReduction="20000"/>
          </a:bodyPr>
          <a:lstStyle/>
          <a:p>
            <a:pPr marL="0" indent="0">
              <a:buNone/>
            </a:pPr>
            <a:r>
              <a:rPr lang="en-US" dirty="0"/>
              <a:t>Current </a:t>
            </a:r>
            <a:r>
              <a:rPr lang="en-US" dirty="0" smtClean="0"/>
              <a:t>10 Years</a:t>
            </a:r>
            <a:endParaRPr lang="en-US" dirty="0"/>
          </a:p>
        </p:txBody>
      </p:sp>
      <p:sp>
        <p:nvSpPr>
          <p:cNvPr id="4" name="Content Placeholder 3">
            <a:extLst>
              <a:ext uri="{FF2B5EF4-FFF2-40B4-BE49-F238E27FC236}">
                <a16:creationId xmlns:a16="http://schemas.microsoft.com/office/drawing/2014/main" xmlns="" id="{30E0AA0B-A66B-F896-65D9-69DDA700D8E7}"/>
              </a:ext>
            </a:extLst>
          </p:cNvPr>
          <p:cNvSpPr>
            <a:spLocks noGrp="1"/>
          </p:cNvSpPr>
          <p:nvPr>
            <p:ph sz="half" idx="2"/>
          </p:nvPr>
        </p:nvSpPr>
        <p:spPr>
          <a:xfrm>
            <a:off x="6172200" y="2065127"/>
            <a:ext cx="1758142" cy="501939"/>
          </a:xfrm>
        </p:spPr>
        <p:txBody>
          <a:bodyPr>
            <a:normAutofit fontScale="70000" lnSpcReduction="20000"/>
          </a:bodyPr>
          <a:lstStyle/>
          <a:p>
            <a:pPr marL="0" indent="0">
              <a:buNone/>
            </a:pPr>
            <a:r>
              <a:rPr lang="en-US" dirty="0"/>
              <a:t>Next </a:t>
            </a:r>
            <a:r>
              <a:rPr lang="en-US" dirty="0" smtClean="0"/>
              <a:t>10 Years</a:t>
            </a:r>
            <a:endParaRPr lang="en-US" dirty="0"/>
          </a:p>
        </p:txBody>
      </p:sp>
      <p:sp>
        <p:nvSpPr>
          <p:cNvPr id="5" name="Content Placeholder 2">
            <a:extLst>
              <a:ext uri="{FF2B5EF4-FFF2-40B4-BE49-F238E27FC236}">
                <a16:creationId xmlns:a16="http://schemas.microsoft.com/office/drawing/2014/main" xmlns="" id="{B4E86EFD-B801-5996-879A-7A13CF75507C}"/>
              </a:ext>
            </a:extLst>
          </p:cNvPr>
          <p:cNvSpPr txBox="1">
            <a:spLocks/>
          </p:cNvSpPr>
          <p:nvPr/>
        </p:nvSpPr>
        <p:spPr>
          <a:xfrm>
            <a:off x="813816" y="2758931"/>
            <a:ext cx="4614949" cy="29634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just">
              <a:lnSpc>
                <a:spcPct val="100000"/>
              </a:lnSpc>
              <a:buNone/>
            </a:pPr>
            <a:r>
              <a:rPr lang="en-US" sz="1800" dirty="0">
                <a:solidFill>
                  <a:schemeClr val="tx1"/>
                </a:solidFill>
                <a:latin typeface="Arial" panose="020B0604020202020204" pitchFamily="34" charset="0"/>
                <a:cs typeface="Arial" panose="020B0604020202020204" pitchFamily="34" charset="0"/>
              </a:rPr>
              <a:t>MySQL, PostgreSQL, and SQLite are the most widely used databases among developers in the current year. Microsoft SQL Server and MongoDB also maintain strong adoption, particularly in enterprise environments, while Oracle continues to play an important role in large organizations despite being less common among individual developers.</a:t>
            </a:r>
            <a:endParaRPr lang="en-US" sz="1800" dirty="0">
              <a:solidFill>
                <a:schemeClr val="tx1"/>
              </a:solidFill>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xmlns="" id="{EF288C39-3E30-44CF-06C3-D46763CC8E0C}"/>
              </a:ext>
            </a:extLst>
          </p:cNvPr>
          <p:cNvSpPr txBox="1">
            <a:spLocks/>
          </p:cNvSpPr>
          <p:nvPr/>
        </p:nvSpPr>
        <p:spPr>
          <a:xfrm>
            <a:off x="6172200" y="2695286"/>
            <a:ext cx="4614949" cy="29091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just">
              <a:lnSpc>
                <a:spcPct val="100000"/>
              </a:lnSpc>
              <a:buNone/>
            </a:pPr>
            <a:r>
              <a:rPr lang="en-US" sz="1800" dirty="0">
                <a:solidFill>
                  <a:schemeClr val="tx1"/>
                </a:solidFill>
                <a:latin typeface="Arial" panose="020B0604020202020204" pitchFamily="34" charset="0"/>
                <a:cs typeface="Arial" panose="020B0604020202020204" pitchFamily="34" charset="0"/>
              </a:rPr>
              <a:t>PostgreSQL and MongoDB are expected to gain wider adoption due to their scalability and cloud support, while MySQL is projected to remain one of the most preferred databases. At the same time, interest in </a:t>
            </a:r>
            <a:r>
              <a:rPr lang="en-US" sz="1800" dirty="0" err="1">
                <a:solidFill>
                  <a:schemeClr val="tx1"/>
                </a:solidFill>
                <a:latin typeface="Arial" panose="020B0604020202020204" pitchFamily="34" charset="0"/>
                <a:cs typeface="Arial" panose="020B0604020202020204" pitchFamily="34" charset="0"/>
              </a:rPr>
              <a:t>Redis</a:t>
            </a:r>
            <a:r>
              <a:rPr lang="en-US" sz="1800" dirty="0">
                <a:solidFill>
                  <a:schemeClr val="tx1"/>
                </a:solidFill>
                <a:latin typeface="Arial" panose="020B0604020202020204" pitchFamily="34" charset="0"/>
                <a:cs typeface="Arial" panose="020B0604020202020204" pitchFamily="34" charset="0"/>
              </a:rPr>
              <a:t> and other cloud-native databases is likely to increase, whereas Oracle adoption may gradually decline in modern application development.</a:t>
            </a:r>
            <a:endParaRPr lang="en-US" sz="1800" dirty="0">
              <a:solidFill>
                <a:schemeClr val="tx1"/>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xmlns="" id="{917A0CDF-0FE0-1DE3-5B09-44D4318623B8}"/>
              </a:ext>
            </a:extLst>
          </p:cNvPr>
          <p:cNvSpPr txBox="1"/>
          <p:nvPr/>
        </p:nvSpPr>
        <p:spPr>
          <a:xfrm>
            <a:off x="881252" y="1476527"/>
            <a:ext cx="10429495" cy="461665"/>
          </a:xfrm>
          <a:prstGeom prst="rect">
            <a:avLst/>
          </a:prstGeom>
          <a:noFill/>
        </p:spPr>
        <p:txBody>
          <a:bodyPr wrap="square" rtlCol="0">
            <a:spAutoFit/>
          </a:bodyPr>
          <a:lstStyle/>
          <a:p>
            <a:r>
              <a:rPr lang="en-US" sz="2400" dirty="0"/>
              <a:t>Summarize key trends shown in the charts.</a:t>
            </a:r>
          </a:p>
        </p:txBody>
      </p:sp>
    </p:spTree>
    <p:custDataLst>
      <p:tags r:id="rId1"/>
    </p:custDataLst>
    <p:extLst>
      <p:ext uri="{BB962C8B-B14F-4D97-AF65-F5344CB8AC3E}">
        <p14:creationId xmlns:p14="http://schemas.microsoft.com/office/powerpoint/2010/main" val="1502887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D797E2B-01DB-9C21-4CF2-1586AB1C34C4}"/>
              </a:ext>
            </a:extLst>
          </p:cNvPr>
          <p:cNvSpPr>
            <a:spLocks noGrp="1"/>
          </p:cNvSpPr>
          <p:nvPr>
            <p:ph type="title"/>
          </p:nvPr>
        </p:nvSpPr>
        <p:spPr>
          <a:xfrm>
            <a:off x="734786" y="572944"/>
            <a:ext cx="11457214" cy="975302"/>
          </a:xfrm>
        </p:spPr>
        <p:txBody>
          <a:bodyPr>
            <a:normAutofit/>
          </a:bodyPr>
          <a:lstStyle/>
          <a:p>
            <a:r>
              <a:rPr lang="en-US" dirty="0"/>
              <a:t>DATABASE TRENDS - FINDINGS &amp; IMPLICATIONS</a:t>
            </a:r>
          </a:p>
        </p:txBody>
      </p:sp>
      <p:sp>
        <p:nvSpPr>
          <p:cNvPr id="3" name="Content Placeholder 2">
            <a:extLst>
              <a:ext uri="{FF2B5EF4-FFF2-40B4-BE49-F238E27FC236}">
                <a16:creationId xmlns:a16="http://schemas.microsoft.com/office/drawing/2014/main" xmlns="" id="{F73EC42F-75A2-FA08-F2B6-EB2817BBF83F}"/>
              </a:ext>
            </a:extLst>
          </p:cNvPr>
          <p:cNvSpPr>
            <a:spLocks noGrp="1"/>
          </p:cNvSpPr>
          <p:nvPr>
            <p:ph sz="half" idx="1"/>
          </p:nvPr>
        </p:nvSpPr>
        <p:spPr>
          <a:xfrm>
            <a:off x="813816" y="1825625"/>
            <a:ext cx="5181600" cy="2893859"/>
          </a:xfrm>
        </p:spPr>
        <p:txBody>
          <a:bodyPr>
            <a:normAutofit/>
          </a:bodyPr>
          <a:lstStyle/>
          <a:p>
            <a:pPr marL="0" indent="0">
              <a:buNone/>
            </a:pPr>
            <a:r>
              <a:rPr lang="en-US" sz="1800" b="1" dirty="0"/>
              <a:t>Findings</a:t>
            </a:r>
          </a:p>
          <a:p>
            <a:pPr marL="0" indent="0">
              <a:buNone/>
            </a:pPr>
            <a:r>
              <a:rPr lang="en-US" sz="1800" b="1" dirty="0"/>
              <a:t>Finding </a:t>
            </a:r>
            <a:r>
              <a:rPr lang="en-US" sz="1800" b="1" dirty="0" smtClean="0"/>
              <a:t>1</a:t>
            </a:r>
            <a:r>
              <a:rPr lang="en-US" sz="1800" dirty="0" smtClean="0"/>
              <a:t>: MySQL</a:t>
            </a:r>
            <a:r>
              <a:rPr lang="en-US" sz="1800" dirty="0"/>
              <a:t>, PostgreSQL, and SQLite are the most widely used databases. </a:t>
            </a:r>
          </a:p>
          <a:p>
            <a:pPr marL="0" indent="0">
              <a:buNone/>
            </a:pPr>
            <a:r>
              <a:rPr lang="en-US" sz="1800" b="1" dirty="0"/>
              <a:t>Finding </a:t>
            </a:r>
            <a:r>
              <a:rPr lang="en-US" sz="1800" b="1" dirty="0" smtClean="0"/>
              <a:t>2</a:t>
            </a:r>
            <a:r>
              <a:rPr lang="en-US" sz="1800" dirty="0" smtClean="0"/>
              <a:t>: PostgreSQL </a:t>
            </a:r>
            <a:r>
              <a:rPr lang="en-US" sz="1800" dirty="0"/>
              <a:t>and MongoDB show strong future growth and increasing developer interest. </a:t>
            </a:r>
          </a:p>
          <a:p>
            <a:pPr marL="0" indent="0">
              <a:buNone/>
            </a:pPr>
            <a:r>
              <a:rPr lang="en-US" sz="1800" b="1" dirty="0"/>
              <a:t>Finding </a:t>
            </a:r>
            <a:r>
              <a:rPr lang="en-US" sz="1800" b="1" dirty="0" smtClean="0"/>
              <a:t>3</a:t>
            </a:r>
            <a:r>
              <a:rPr lang="en-US" sz="1800" dirty="0" smtClean="0"/>
              <a:t>: Oracle </a:t>
            </a:r>
            <a:r>
              <a:rPr lang="en-US" sz="1800" dirty="0"/>
              <a:t>remains important for enterprise applications, while </a:t>
            </a:r>
            <a:r>
              <a:rPr lang="en-US" sz="1800" dirty="0" err="1"/>
              <a:t>Redis</a:t>
            </a:r>
            <a:r>
              <a:rPr lang="en-US" sz="1800" dirty="0"/>
              <a:t> and cloud-native databases are gaining popularity.</a:t>
            </a:r>
          </a:p>
        </p:txBody>
      </p:sp>
      <p:sp>
        <p:nvSpPr>
          <p:cNvPr id="4" name="Content Placeholder 3">
            <a:extLst>
              <a:ext uri="{FF2B5EF4-FFF2-40B4-BE49-F238E27FC236}">
                <a16:creationId xmlns:a16="http://schemas.microsoft.com/office/drawing/2014/main" xmlns="" id="{D327B10A-E9C3-5B71-0345-782E28BDB37C}"/>
              </a:ext>
            </a:extLst>
          </p:cNvPr>
          <p:cNvSpPr>
            <a:spLocks noGrp="1"/>
          </p:cNvSpPr>
          <p:nvPr>
            <p:ph sz="half" idx="2"/>
          </p:nvPr>
        </p:nvSpPr>
        <p:spPr>
          <a:xfrm>
            <a:off x="6172200" y="1825625"/>
            <a:ext cx="5181600" cy="3129833"/>
          </a:xfrm>
        </p:spPr>
        <p:txBody>
          <a:bodyPr>
            <a:noAutofit/>
          </a:bodyPr>
          <a:lstStyle/>
          <a:p>
            <a:pPr marL="0" indent="0">
              <a:buNone/>
            </a:pPr>
            <a:r>
              <a:rPr lang="en-US" sz="1800" b="1" dirty="0"/>
              <a:t>Implications</a:t>
            </a:r>
          </a:p>
          <a:p>
            <a:pPr marL="0" indent="0">
              <a:buNone/>
            </a:pPr>
            <a:r>
              <a:rPr lang="en-US" sz="1800" b="1" dirty="0"/>
              <a:t>Implication </a:t>
            </a:r>
            <a:r>
              <a:rPr lang="en-US" sz="1800" b="1" dirty="0" smtClean="0"/>
              <a:t>1</a:t>
            </a:r>
            <a:r>
              <a:rPr lang="en-US" sz="1800" dirty="0" smtClean="0"/>
              <a:t>: Learning </a:t>
            </a:r>
            <a:r>
              <a:rPr lang="en-US" sz="1800" dirty="0"/>
              <a:t>PostgreSQL and MySQL can improve career opportunities in database management. </a:t>
            </a:r>
          </a:p>
          <a:p>
            <a:pPr marL="0" indent="0">
              <a:buNone/>
            </a:pPr>
            <a:r>
              <a:rPr lang="en-US" sz="1800" b="1" dirty="0"/>
              <a:t>Implication </a:t>
            </a:r>
            <a:r>
              <a:rPr lang="en-US" sz="1800" b="1" dirty="0" smtClean="0"/>
              <a:t>2</a:t>
            </a:r>
            <a:r>
              <a:rPr lang="en-US" sz="1800" dirty="0" smtClean="0"/>
              <a:t>: MongoDB </a:t>
            </a:r>
            <a:r>
              <a:rPr lang="en-US" sz="1800" dirty="0"/>
              <a:t>and cloud-native databases are valuable skills for modern application development. </a:t>
            </a:r>
          </a:p>
          <a:p>
            <a:pPr marL="0" indent="0">
              <a:buNone/>
            </a:pPr>
            <a:r>
              <a:rPr lang="en-US" sz="1800" b="1" dirty="0"/>
              <a:t>Implication </a:t>
            </a:r>
            <a:r>
              <a:rPr lang="en-US" sz="1800" b="1" dirty="0" smtClean="0"/>
              <a:t>3</a:t>
            </a:r>
            <a:r>
              <a:rPr lang="en-US" sz="1800" dirty="0" smtClean="0"/>
              <a:t>: Organizations </a:t>
            </a:r>
            <a:r>
              <a:rPr lang="en-US" sz="1800" dirty="0"/>
              <a:t>should adopt scalable and cloud-compatible databases to meet future technology demands.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D393914-A678-A34E-C52A-16D0ADAA25AF}"/>
              </a:ext>
            </a:extLst>
          </p:cNvPr>
          <p:cNvSpPr>
            <a:spLocks noGrp="1"/>
          </p:cNvSpPr>
          <p:nvPr>
            <p:ph type="title"/>
          </p:nvPr>
        </p:nvSpPr>
        <p:spPr>
          <a:xfrm>
            <a:off x="706582" y="365125"/>
            <a:ext cx="11087100" cy="985693"/>
          </a:xfrm>
        </p:spPr>
        <p:txBody>
          <a:bodyPr anchor="ctr">
            <a:noAutofit/>
          </a:bodyPr>
          <a:lstStyle/>
          <a:p>
            <a:r>
              <a:rPr lang="en-US" dirty="0"/>
              <a:t>DASHBOARD TAB 1: Current Technology Usage</a:t>
            </a:r>
          </a:p>
        </p:txBody>
      </p:sp>
      <p:sp>
        <p:nvSpPr>
          <p:cNvPr id="3" name="Content Placeholder 2">
            <a:extLst>
              <a:ext uri="{FF2B5EF4-FFF2-40B4-BE49-F238E27FC236}">
                <a16:creationId xmlns:a16="http://schemas.microsoft.com/office/drawing/2014/main" xmlns="" id="{B396FB03-F857-3EC0-249E-AE03F391502E}"/>
              </a:ext>
            </a:extLst>
          </p:cNvPr>
          <p:cNvSpPr>
            <a:spLocks noGrp="1"/>
          </p:cNvSpPr>
          <p:nvPr>
            <p:ph sz="half" idx="1"/>
          </p:nvPr>
        </p:nvSpPr>
        <p:spPr>
          <a:xfrm>
            <a:off x="838200" y="1690688"/>
            <a:ext cx="5769077" cy="4351338"/>
          </a:xfrm>
        </p:spPr>
        <p:txBody>
          <a:bodyPr>
            <a:normAutofit lnSpcReduction="10000"/>
          </a:bodyPr>
          <a:lstStyle/>
          <a:p>
            <a:pPr marL="0" indent="0">
              <a:buNone/>
            </a:pPr>
            <a:r>
              <a:rPr lang="en-US" sz="1600" b="1" dirty="0"/>
              <a:t>Summary</a:t>
            </a:r>
          </a:p>
          <a:p>
            <a:pPr marL="0" indent="0" algn="just">
              <a:buNone/>
            </a:pPr>
            <a:r>
              <a:rPr lang="en-US" sz="1600" dirty="0"/>
              <a:t>The current technology usage dashboard shows that </a:t>
            </a:r>
            <a:r>
              <a:rPr lang="en-US" sz="1600" b="1" dirty="0"/>
              <a:t>JavaScript, </a:t>
            </a:r>
            <a:endParaRPr lang="en-US" sz="1600" b="1" dirty="0" smtClean="0"/>
          </a:p>
          <a:p>
            <a:pPr marL="0" indent="0" algn="just">
              <a:buNone/>
            </a:pPr>
            <a:r>
              <a:rPr lang="en-US" sz="1600" b="1" dirty="0" smtClean="0"/>
              <a:t>HTML/CSS</a:t>
            </a:r>
            <a:r>
              <a:rPr lang="en-US" sz="1600" b="1" dirty="0"/>
              <a:t>, SQL, and Python</a:t>
            </a:r>
            <a:r>
              <a:rPr lang="en-US" sz="1600" dirty="0"/>
              <a:t> are the most widely used programming </a:t>
            </a:r>
            <a:endParaRPr lang="en-US" sz="1600" dirty="0" smtClean="0"/>
          </a:p>
          <a:p>
            <a:pPr marL="0" indent="0" algn="just">
              <a:buNone/>
            </a:pPr>
            <a:r>
              <a:rPr lang="en-US" sz="1600" dirty="0" smtClean="0"/>
              <a:t>languages </a:t>
            </a:r>
            <a:r>
              <a:rPr lang="en-US" sz="1600" dirty="0"/>
              <a:t>among developers. </a:t>
            </a:r>
            <a:r>
              <a:rPr lang="en-US" sz="1600" b="1" dirty="0"/>
              <a:t>PostgreSQL, Microsoft SQL Server, and MySQL</a:t>
            </a:r>
            <a:r>
              <a:rPr lang="en-US" sz="1600" dirty="0"/>
              <a:t> </a:t>
            </a:r>
            <a:endParaRPr lang="en-US" sz="1600" dirty="0" smtClean="0"/>
          </a:p>
          <a:p>
            <a:pPr marL="0" indent="0" algn="just">
              <a:buNone/>
            </a:pPr>
            <a:r>
              <a:rPr lang="en-US" sz="1600" dirty="0" smtClean="0"/>
              <a:t>are </a:t>
            </a:r>
            <a:r>
              <a:rPr lang="en-US" sz="1600" dirty="0"/>
              <a:t>the leading databases in current use. Among cloud platforms, </a:t>
            </a:r>
            <a:endParaRPr lang="en-US" sz="1600" dirty="0" smtClean="0"/>
          </a:p>
          <a:p>
            <a:pPr marL="0" indent="0" algn="just">
              <a:buNone/>
            </a:pPr>
            <a:r>
              <a:rPr lang="en-US" sz="1600" b="1" dirty="0" smtClean="0"/>
              <a:t>Amazon </a:t>
            </a:r>
            <a:r>
              <a:rPr lang="en-US" sz="1600" b="1" dirty="0"/>
              <a:t>Web Services (AWS)</a:t>
            </a:r>
            <a:r>
              <a:rPr lang="en-US" sz="1600" dirty="0"/>
              <a:t> and </a:t>
            </a:r>
            <a:r>
              <a:rPr lang="en-US" sz="1600" b="1" dirty="0"/>
              <a:t>Microsoft Azure</a:t>
            </a:r>
            <a:r>
              <a:rPr lang="en-US" sz="1600" dirty="0"/>
              <a:t> dominate the market</a:t>
            </a:r>
            <a:r>
              <a:rPr lang="en-US" sz="1600" dirty="0" smtClean="0"/>
              <a:t>,</a:t>
            </a:r>
          </a:p>
          <a:p>
            <a:pPr marL="0" indent="0" algn="just">
              <a:buNone/>
            </a:pPr>
            <a:r>
              <a:rPr lang="en-US" sz="1600" dirty="0" smtClean="0"/>
              <a:t> </a:t>
            </a:r>
            <a:r>
              <a:rPr lang="en-US" sz="1600" dirty="0"/>
              <a:t>while </a:t>
            </a:r>
            <a:r>
              <a:rPr lang="en-US" sz="1600" b="1" dirty="0"/>
              <a:t>Spring Boot, React, and ASP.NET Core</a:t>
            </a:r>
            <a:r>
              <a:rPr lang="en-US" sz="1600" dirty="0"/>
              <a:t> are the most commonly used </a:t>
            </a:r>
            <a:endParaRPr lang="en-US" sz="1600" dirty="0" smtClean="0"/>
          </a:p>
          <a:p>
            <a:pPr marL="0" indent="0" algn="just">
              <a:buNone/>
            </a:pPr>
            <a:r>
              <a:rPr lang="en-US" sz="1600" dirty="0" smtClean="0"/>
              <a:t>web frameworks These findings indicate that full-stack development and cloud </a:t>
            </a:r>
          </a:p>
          <a:p>
            <a:pPr marL="0" indent="0" algn="just">
              <a:buNone/>
            </a:pPr>
            <a:r>
              <a:rPr lang="en-US" sz="1600" dirty="0" smtClean="0"/>
              <a:t>technologies continue to play a significant role in modern software development.</a:t>
            </a:r>
          </a:p>
          <a:p>
            <a:pPr marL="0" indent="0">
              <a:buNone/>
            </a:pPr>
            <a:endParaRPr lang="en-US" sz="11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7277" y="1838632"/>
            <a:ext cx="4768646" cy="4203393"/>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94F933A-3681-3D82-68EF-62EC07822DAD}"/>
              </a:ext>
            </a:extLst>
          </p:cNvPr>
          <p:cNvSpPr>
            <a:spLocks noGrp="1"/>
          </p:cNvSpPr>
          <p:nvPr>
            <p:ph type="title"/>
          </p:nvPr>
        </p:nvSpPr>
        <p:spPr>
          <a:xfrm>
            <a:off x="727364" y="531380"/>
            <a:ext cx="11055926" cy="1016866"/>
          </a:xfrm>
        </p:spPr>
        <p:txBody>
          <a:bodyPr anchor="ctr">
            <a:normAutofit/>
          </a:bodyPr>
          <a:lstStyle/>
          <a:p>
            <a:r>
              <a:rPr lang="en-US" dirty="0"/>
              <a:t>DASHBOARD TAB 2: Future Technology Trends</a:t>
            </a:r>
          </a:p>
        </p:txBody>
      </p:sp>
      <p:sp>
        <p:nvSpPr>
          <p:cNvPr id="3" name="Content Placeholder 2">
            <a:extLst>
              <a:ext uri="{FF2B5EF4-FFF2-40B4-BE49-F238E27FC236}">
                <a16:creationId xmlns:a16="http://schemas.microsoft.com/office/drawing/2014/main" xmlns="" id="{73960BF9-AB8D-4916-3BC9-E2E92E0872BE}"/>
              </a:ext>
            </a:extLst>
          </p:cNvPr>
          <p:cNvSpPr>
            <a:spLocks noGrp="1"/>
          </p:cNvSpPr>
          <p:nvPr>
            <p:ph sz="half" idx="1"/>
          </p:nvPr>
        </p:nvSpPr>
        <p:spPr>
          <a:xfrm>
            <a:off x="838200" y="1690688"/>
            <a:ext cx="5277465" cy="3412254"/>
          </a:xfrm>
        </p:spPr>
        <p:txBody>
          <a:bodyPr>
            <a:normAutofit/>
          </a:bodyPr>
          <a:lstStyle/>
          <a:p>
            <a:pPr marL="0" indent="0">
              <a:buNone/>
            </a:pPr>
            <a:r>
              <a:rPr lang="en-US" sz="1800" b="1" dirty="0"/>
              <a:t>Summary</a:t>
            </a:r>
          </a:p>
          <a:p>
            <a:pPr marL="0" indent="0" algn="just">
              <a:buNone/>
            </a:pPr>
            <a:r>
              <a:rPr lang="en-US" sz="1800" dirty="0"/>
              <a:t>The future technology trends dashboard highlights that </a:t>
            </a:r>
            <a:r>
              <a:rPr lang="en-US" sz="1800" b="1" dirty="0"/>
              <a:t>Python, JavaScript, and SQL</a:t>
            </a:r>
            <a:r>
              <a:rPr lang="en-US" sz="1800" dirty="0"/>
              <a:t> are expected to remain the most preferred programming languages. </a:t>
            </a:r>
            <a:r>
              <a:rPr lang="en-US" sz="1800" b="1" dirty="0"/>
              <a:t>PostgreSQL</a:t>
            </a:r>
            <a:r>
              <a:rPr lang="en-US" sz="1800" dirty="0"/>
              <a:t> continues to be the most desired database, followed by </a:t>
            </a:r>
            <a:r>
              <a:rPr lang="en-US" sz="1800" b="1" dirty="0"/>
              <a:t>Microsoft SQL Server</a:t>
            </a:r>
            <a:r>
              <a:rPr lang="en-US" sz="1800" dirty="0"/>
              <a:t> and </a:t>
            </a:r>
            <a:r>
              <a:rPr lang="en-US" sz="1800" b="1" dirty="0"/>
              <a:t>MySQL</a:t>
            </a:r>
            <a:r>
              <a:rPr lang="en-US" sz="1800" dirty="0"/>
              <a:t>. Developers also show increasing interest in </a:t>
            </a:r>
            <a:r>
              <a:rPr lang="en-US" sz="1800" b="1" dirty="0"/>
              <a:t>AWS, Microsoft Azure, and Google Cloud</a:t>
            </a:r>
            <a:r>
              <a:rPr lang="en-US" sz="1800" dirty="0"/>
              <a:t> for cloud computing. The popularity of </a:t>
            </a:r>
            <a:r>
              <a:rPr lang="en-US" sz="1800" b="1" dirty="0"/>
              <a:t>ASP.NET Core, Spring Boot, and React</a:t>
            </a:r>
            <a:r>
              <a:rPr lang="en-US" sz="1800" dirty="0"/>
              <a:t> suggests continued growth in modern web application development.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3484" y="1789010"/>
            <a:ext cx="5539806" cy="3677725"/>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712C0C82-5F1A-F7B1-2C56-5C08240C1647}"/>
              </a:ext>
            </a:extLst>
          </p:cNvPr>
          <p:cNvSpPr>
            <a:spLocks noGrp="1"/>
          </p:cNvSpPr>
          <p:nvPr>
            <p:ph type="title"/>
          </p:nvPr>
        </p:nvSpPr>
        <p:spPr/>
        <p:txBody>
          <a:bodyPr anchor="ctr">
            <a:normAutofit/>
          </a:bodyPr>
          <a:lstStyle/>
          <a:p>
            <a:r>
              <a:rPr lang="en-US" dirty="0"/>
              <a:t>DASHBOARD TAB 3: Demographics</a:t>
            </a:r>
          </a:p>
        </p:txBody>
      </p:sp>
      <p:sp>
        <p:nvSpPr>
          <p:cNvPr id="3" name="Content Placeholder 2">
            <a:extLst>
              <a:ext uri="{FF2B5EF4-FFF2-40B4-BE49-F238E27FC236}">
                <a16:creationId xmlns:a16="http://schemas.microsoft.com/office/drawing/2014/main" xmlns="" id="{84961A98-8DF3-E66E-19C4-7D7642551E90}"/>
              </a:ext>
            </a:extLst>
          </p:cNvPr>
          <p:cNvSpPr>
            <a:spLocks noGrp="1"/>
          </p:cNvSpPr>
          <p:nvPr>
            <p:ph sz="half" idx="1"/>
          </p:nvPr>
        </p:nvSpPr>
        <p:spPr>
          <a:xfrm>
            <a:off x="838200" y="1690688"/>
            <a:ext cx="5228303" cy="4218499"/>
          </a:xfrm>
        </p:spPr>
        <p:txBody>
          <a:bodyPr>
            <a:normAutofit/>
          </a:bodyPr>
          <a:lstStyle/>
          <a:p>
            <a:pPr marL="0" indent="0" algn="just">
              <a:lnSpc>
                <a:spcPct val="100000"/>
              </a:lnSpc>
              <a:buNone/>
            </a:pPr>
            <a:r>
              <a:rPr lang="en-US" sz="1800" b="1" dirty="0"/>
              <a:t>Summary</a:t>
            </a:r>
          </a:p>
          <a:p>
            <a:pPr marL="0" indent="0" algn="just">
              <a:lnSpc>
                <a:spcPct val="100000"/>
              </a:lnSpc>
              <a:buNone/>
            </a:pPr>
            <a:r>
              <a:rPr lang="en-US" sz="1800" dirty="0"/>
              <a:t>The demographics dashboard reveals that the majority of respondents belong to the </a:t>
            </a:r>
            <a:r>
              <a:rPr lang="en-US" sz="1800" b="1" dirty="0"/>
              <a:t>25–34 years</a:t>
            </a:r>
            <a:r>
              <a:rPr lang="en-US" sz="1800" dirty="0"/>
              <a:t> age group, followed by </a:t>
            </a:r>
            <a:r>
              <a:rPr lang="en-US" sz="1800" b="1" dirty="0"/>
              <a:t>35–44 years</a:t>
            </a:r>
            <a:r>
              <a:rPr lang="en-US" sz="1800" dirty="0"/>
              <a:t>. Most respondents hold a </a:t>
            </a:r>
            <a:r>
              <a:rPr lang="en-US" sz="1800" b="1" dirty="0"/>
              <a:t>Bachelor’s degree</a:t>
            </a:r>
            <a:r>
              <a:rPr lang="en-US" sz="1800" dirty="0"/>
              <a:t>, indicating a highly educated developer community. The country distribution shows participation from multiple regions worldwide, demonstrating the global nature of the survey. The relationship between age and education suggests that the largest proportion of experienced professionals falls within the 25–34 age category.</a:t>
            </a:r>
          </a:p>
          <a:p>
            <a:pPr marL="0" indent="0">
              <a:buNone/>
            </a:pPr>
            <a:endParaRPr lang="en-US" sz="18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4658" y="1847108"/>
            <a:ext cx="5524834" cy="3905658"/>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1298769-531F-C6A5-406F-D1C3D2805950}"/>
              </a:ext>
            </a:extLst>
          </p:cNvPr>
          <p:cNvSpPr>
            <a:spLocks noGrp="1"/>
          </p:cNvSpPr>
          <p:nvPr>
            <p:ph type="title"/>
          </p:nvPr>
        </p:nvSpPr>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xmlns="" id="{1F45ECC1-C956-CADF-DDFD-F54C6608E401}"/>
              </a:ext>
            </a:extLst>
          </p:cNvPr>
          <p:cNvPicPr>
            <a:picLocks noGrp="1" noChangeAspect="1"/>
          </p:cNvPicPr>
          <p:nvPr>
            <p:ph sz="half" idx="1"/>
          </p:nvPr>
        </p:nvPicPr>
        <p:blipFill>
          <a:blip r:embed="rId3"/>
          <a:stretch>
            <a:fillRect/>
          </a:stretch>
        </p:blipFill>
        <p:spPr>
          <a:xfrm>
            <a:off x="1143282" y="2348628"/>
            <a:ext cx="3054361" cy="3054361"/>
          </a:xfrm>
          <a:prstGeom prst="rect">
            <a:avLst/>
          </a:prstGeom>
          <a:noFill/>
        </p:spPr>
      </p:pic>
      <p:sp>
        <p:nvSpPr>
          <p:cNvPr id="4" name="Content Placeholder 3">
            <a:extLst>
              <a:ext uri="{FF2B5EF4-FFF2-40B4-BE49-F238E27FC236}">
                <a16:creationId xmlns:a16="http://schemas.microsoft.com/office/drawing/2014/main" xmlns="" id="{0F67EF50-003F-6BB0-4367-42BB884C77A4}"/>
              </a:ext>
            </a:extLst>
          </p:cNvPr>
          <p:cNvSpPr>
            <a:spLocks noGrp="1"/>
          </p:cNvSpPr>
          <p:nvPr>
            <p:ph sz="half" idx="2"/>
          </p:nvPr>
        </p:nvSpPr>
        <p:spPr>
          <a:xfrm>
            <a:off x="4463845" y="1825625"/>
            <a:ext cx="6889955" cy="4351338"/>
          </a:xfrm>
        </p:spPr>
        <p:txBody>
          <a:bodyPr>
            <a:normAutofit/>
          </a:bodyPr>
          <a:lstStyle/>
          <a:p>
            <a:pPr marL="0" indent="0" algn="just">
              <a:lnSpc>
                <a:spcPct val="150000"/>
              </a:lnSpc>
              <a:buNone/>
            </a:pPr>
            <a:r>
              <a:rPr lang="en-US" sz="1800" dirty="0"/>
              <a:t>The analysis indicates that Python, JavaScript, SQL, PostgreSQL, AWS, and modern web frameworks such as React and Spring Boot continue to dominate both current usage and future technology preferences. These technologies remain highly valuable for developers seeking career growth and organizations planning future technology adoption. The demographic analysis further shows that the global developer community is largely composed of young, well-educated professionals, highlighting strong demand for modern technical skills.</a:t>
            </a:r>
            <a:endParaRPr lang="en-US" sz="1800" dirty="0"/>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EEBA8902-AF46-DDE8-D792-7940E18AF629}"/>
              </a:ext>
            </a:extLst>
          </p:cNvPr>
          <p:cNvSpPr>
            <a:spLocks noGrp="1"/>
          </p:cNvSpPr>
          <p:nvPr>
            <p:ph type="title"/>
          </p:nvPr>
        </p:nvSpPr>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xmlns="" id="{D196B89C-35B9-C514-4E9C-FCBE8D68D3FD}"/>
              </a:ext>
            </a:extLst>
          </p:cNvPr>
          <p:cNvSpPr>
            <a:spLocks noGrp="1"/>
          </p:cNvSpPr>
          <p:nvPr>
            <p:ph sz="half" idx="1"/>
          </p:nvPr>
        </p:nvSpPr>
        <p:spPr>
          <a:xfrm>
            <a:off x="813816" y="1825625"/>
            <a:ext cx="5181600" cy="4351338"/>
          </a:xfrm>
        </p:spPr>
        <p:txBody>
          <a:bodyPr>
            <a:normAutofit/>
          </a:bodyPr>
          <a:lstStyle/>
          <a:p>
            <a:pPr marL="0" indent="0">
              <a:buNone/>
            </a:pPr>
            <a:r>
              <a:rPr lang="en-US" sz="1800" b="1" dirty="0"/>
              <a:t>Findings</a:t>
            </a:r>
          </a:p>
          <a:p>
            <a:pPr marL="0" indent="0">
              <a:buNone/>
            </a:pPr>
            <a:r>
              <a:rPr lang="en-US" sz="1800" b="1" dirty="0"/>
              <a:t>Finding </a:t>
            </a:r>
            <a:r>
              <a:rPr lang="en-US" sz="1800" b="1" dirty="0" smtClean="0"/>
              <a:t>1</a:t>
            </a:r>
            <a:r>
              <a:rPr lang="en-US" sz="1800" dirty="0" smtClean="0"/>
              <a:t>: JavaScript</a:t>
            </a:r>
            <a:r>
              <a:rPr lang="en-US" sz="1800" dirty="0"/>
              <a:t>, Python, SQL, and PostgreSQL are the most widely used and preferred technologies. </a:t>
            </a:r>
          </a:p>
          <a:p>
            <a:pPr marL="0" indent="0">
              <a:buNone/>
            </a:pPr>
            <a:r>
              <a:rPr lang="en-US" sz="1800" b="1" dirty="0"/>
              <a:t>Finding </a:t>
            </a:r>
            <a:r>
              <a:rPr lang="en-US" sz="1800" b="1" dirty="0" smtClean="0"/>
              <a:t>2</a:t>
            </a:r>
            <a:r>
              <a:rPr lang="en-US" sz="1800" dirty="0" smtClean="0"/>
              <a:t>: AWS</a:t>
            </a:r>
            <a:r>
              <a:rPr lang="en-US" sz="1800" dirty="0"/>
              <a:t>, Microsoft Azure, and Google Cloud continue to dominate cloud platform adoption. </a:t>
            </a:r>
          </a:p>
          <a:p>
            <a:pPr marL="0" indent="0">
              <a:buNone/>
            </a:pPr>
            <a:r>
              <a:rPr lang="en-US" sz="1800" b="1" dirty="0"/>
              <a:t>Finding </a:t>
            </a:r>
            <a:r>
              <a:rPr lang="en-US" sz="1800" b="1" dirty="0" smtClean="0"/>
              <a:t>3</a:t>
            </a:r>
            <a:r>
              <a:rPr lang="en-US" sz="1800" dirty="0" smtClean="0"/>
              <a:t>: Most </a:t>
            </a:r>
            <a:r>
              <a:rPr lang="en-US" sz="1800" dirty="0"/>
              <a:t>survey respondents are aged </a:t>
            </a:r>
            <a:r>
              <a:rPr lang="en-US" sz="1800" b="1" dirty="0"/>
              <a:t>25–34 years</a:t>
            </a:r>
            <a:r>
              <a:rPr lang="en-US" sz="1800" dirty="0"/>
              <a:t> and hold a </a:t>
            </a:r>
            <a:r>
              <a:rPr lang="en-US" sz="1800" b="1" dirty="0"/>
              <a:t>Bachelor’s degree</a:t>
            </a:r>
            <a:r>
              <a:rPr lang="en-US" sz="1800" dirty="0"/>
              <a:t>, representing a skilled developer workforce.</a:t>
            </a:r>
          </a:p>
        </p:txBody>
      </p:sp>
      <p:sp>
        <p:nvSpPr>
          <p:cNvPr id="4" name="Content Placeholder 3">
            <a:extLst>
              <a:ext uri="{FF2B5EF4-FFF2-40B4-BE49-F238E27FC236}">
                <a16:creationId xmlns:a16="http://schemas.microsoft.com/office/drawing/2014/main" xmlns="" id="{2FDBBA5A-826D-FFFD-F1BE-92269842D330}"/>
              </a:ext>
            </a:extLst>
          </p:cNvPr>
          <p:cNvSpPr>
            <a:spLocks noGrp="1"/>
          </p:cNvSpPr>
          <p:nvPr>
            <p:ph sz="half" idx="2"/>
          </p:nvPr>
        </p:nvSpPr>
        <p:spPr>
          <a:xfrm>
            <a:off x="6172200" y="1825625"/>
            <a:ext cx="5181600" cy="3228156"/>
          </a:xfrm>
        </p:spPr>
        <p:txBody>
          <a:bodyPr>
            <a:normAutofit/>
          </a:bodyPr>
          <a:lstStyle/>
          <a:p>
            <a:pPr marL="0" indent="0">
              <a:buNone/>
            </a:pPr>
            <a:r>
              <a:rPr lang="en-US" sz="1800" b="1" dirty="0"/>
              <a:t>Implications</a:t>
            </a:r>
          </a:p>
          <a:p>
            <a:pPr marL="0" indent="0" algn="just">
              <a:buNone/>
            </a:pPr>
            <a:r>
              <a:rPr lang="en-US" sz="1800" b="1" dirty="0"/>
              <a:t>Implication </a:t>
            </a:r>
            <a:r>
              <a:rPr lang="en-US" sz="1800" b="1" dirty="0" smtClean="0"/>
              <a:t>1</a:t>
            </a:r>
            <a:r>
              <a:rPr lang="en-US" sz="1800" dirty="0" smtClean="0"/>
              <a:t>: Developers </a:t>
            </a:r>
            <a:r>
              <a:rPr lang="en-US" sz="1800" dirty="0"/>
              <a:t>should focus on Python, JavaScript, SQL, and PostgreSQL to improve career opportunities. </a:t>
            </a:r>
          </a:p>
          <a:p>
            <a:pPr marL="0" indent="0" algn="just">
              <a:buNone/>
            </a:pPr>
            <a:r>
              <a:rPr lang="en-US" sz="1800" b="1" dirty="0"/>
              <a:t>Implication </a:t>
            </a:r>
            <a:r>
              <a:rPr lang="en-US" sz="1800" b="1" dirty="0" smtClean="0"/>
              <a:t>2</a:t>
            </a:r>
            <a:r>
              <a:rPr lang="en-US" sz="1800" dirty="0" smtClean="0"/>
              <a:t>: Organizations </a:t>
            </a:r>
            <a:r>
              <a:rPr lang="en-US" sz="1800" dirty="0"/>
              <a:t>should invest in cloud technologies such as AWS and Azure to remain competitive. </a:t>
            </a:r>
          </a:p>
          <a:p>
            <a:pPr marL="0" indent="0" algn="just">
              <a:buNone/>
            </a:pPr>
            <a:r>
              <a:rPr lang="en-US" sz="1800" b="1" dirty="0"/>
              <a:t>Implication </a:t>
            </a:r>
            <a:r>
              <a:rPr lang="en-US" sz="1800" b="1" dirty="0" smtClean="0"/>
              <a:t>3</a:t>
            </a:r>
            <a:r>
              <a:rPr lang="en-US" sz="1800" dirty="0" smtClean="0"/>
              <a:t>: Continuous </a:t>
            </a:r>
            <a:r>
              <a:rPr lang="en-US" sz="1800" dirty="0"/>
              <a:t>learning of modern technologies and cloud platforms is essential to meet future industry demands. </a:t>
            </a:r>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xmlns="" id="{5E978FF3-BC93-079A-1687-DD4786B81DF4}"/>
              </a:ext>
            </a:extLst>
          </p:cNvPr>
          <p:cNvSpPr>
            <a:spLocks noGrp="1"/>
          </p:cNvSpPr>
          <p:nvPr>
            <p:ph type="title"/>
          </p:nvPr>
        </p:nvSpPr>
        <p:spPr/>
        <p:txBody>
          <a:bodyPr anchor="ctr">
            <a:normAutofit/>
          </a:bodyPr>
          <a:lstStyle/>
          <a:p>
            <a:r>
              <a:rPr lang="en-US" dirty="0"/>
              <a:t>CONCLUSION</a:t>
            </a:r>
          </a:p>
        </p:txBody>
      </p:sp>
      <p:pic>
        <p:nvPicPr>
          <p:cNvPr id="13" name="Content Placeholder 5">
            <a:extLst>
              <a:ext uri="{FF2B5EF4-FFF2-40B4-BE49-F238E27FC236}">
                <a16:creationId xmlns:a16="http://schemas.microsoft.com/office/drawing/2014/main" xmlns=""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
        <p:nvSpPr>
          <p:cNvPr id="12" name="Content Placeholder 3">
            <a:extLst>
              <a:ext uri="{FF2B5EF4-FFF2-40B4-BE49-F238E27FC236}">
                <a16:creationId xmlns:a16="http://schemas.microsoft.com/office/drawing/2014/main" xmlns="" id="{2E75918E-509D-16F8-F478-FA41759FEFE9}"/>
              </a:ext>
            </a:extLst>
          </p:cNvPr>
          <p:cNvSpPr txBox="1">
            <a:spLocks/>
          </p:cNvSpPr>
          <p:nvPr/>
        </p:nvSpPr>
        <p:spPr>
          <a:xfrm>
            <a:off x="4544291" y="1690689"/>
            <a:ext cx="6809509" cy="36580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just">
              <a:lnSpc>
                <a:spcPct val="100000"/>
              </a:lnSpc>
              <a:buNone/>
            </a:pPr>
            <a:r>
              <a:rPr lang="en-US" sz="1800" b="1" dirty="0"/>
              <a:t>Point </a:t>
            </a:r>
            <a:r>
              <a:rPr lang="en-US" sz="1800" b="1" dirty="0" smtClean="0"/>
              <a:t>1</a:t>
            </a:r>
            <a:r>
              <a:rPr lang="en-US" sz="1800" dirty="0" smtClean="0"/>
              <a:t>: The </a:t>
            </a:r>
            <a:r>
              <a:rPr lang="en-US" sz="1800" dirty="0"/>
              <a:t>analysis identified the current and future trends in programming languages, databases, cloud platforms, and web frameworks. </a:t>
            </a:r>
          </a:p>
          <a:p>
            <a:pPr marL="0" indent="0" algn="just">
              <a:lnSpc>
                <a:spcPct val="100000"/>
              </a:lnSpc>
              <a:buNone/>
            </a:pPr>
            <a:r>
              <a:rPr lang="en-US" sz="1800" b="1" dirty="0" smtClean="0"/>
              <a:t>Point 2</a:t>
            </a:r>
            <a:r>
              <a:rPr lang="en-US" sz="1800" dirty="0" smtClean="0"/>
              <a:t>: Python</a:t>
            </a:r>
            <a:r>
              <a:rPr lang="en-US" sz="1800" dirty="0"/>
              <a:t>, JavaScript, PostgreSQL, and AWS emerged as the most popular and in-demand technologies across the analysis. </a:t>
            </a:r>
          </a:p>
          <a:p>
            <a:pPr marL="0" indent="0" algn="just">
              <a:lnSpc>
                <a:spcPct val="100000"/>
              </a:lnSpc>
              <a:buNone/>
            </a:pPr>
            <a:r>
              <a:rPr lang="en-US" sz="1800" b="1" dirty="0"/>
              <a:t>Point </a:t>
            </a:r>
            <a:r>
              <a:rPr lang="en-US" sz="1800" b="1" dirty="0" smtClean="0"/>
              <a:t>3</a:t>
            </a:r>
            <a:r>
              <a:rPr lang="en-US" sz="1800" dirty="0" smtClean="0"/>
              <a:t>: Interactive </a:t>
            </a:r>
            <a:r>
              <a:rPr lang="en-US" sz="1800" dirty="0"/>
              <a:t>dashboards and visualizations provided valuable insights into developer preferences, technology adoption, and demographic patterns. </a:t>
            </a:r>
          </a:p>
          <a:p>
            <a:pPr marL="0" indent="0" algn="just">
              <a:lnSpc>
                <a:spcPct val="100000"/>
              </a:lnSpc>
              <a:buNone/>
            </a:pPr>
            <a:r>
              <a:rPr lang="en-US" sz="1800" b="1" dirty="0"/>
              <a:t>Point </a:t>
            </a:r>
            <a:r>
              <a:rPr lang="en-US" sz="1800" b="1" dirty="0" smtClean="0"/>
              <a:t>4</a:t>
            </a:r>
            <a:r>
              <a:rPr lang="en-US" sz="1800" dirty="0" smtClean="0"/>
              <a:t>: The </a:t>
            </a:r>
            <a:r>
              <a:rPr lang="en-US" sz="1800" dirty="0"/>
              <a:t>project demonstrates how data analytics and visualization can support informed career decisions and technology adoption for individuals and organizations.</a:t>
            </a:r>
          </a:p>
        </p:txBody>
      </p:sp>
    </p:spTree>
    <p:custDataLst>
      <p:tags r:id="rId1"/>
    </p:custDataLst>
    <p:extLst>
      <p:ext uri="{BB962C8B-B14F-4D97-AF65-F5344CB8AC3E}">
        <p14:creationId xmlns:p14="http://schemas.microsoft.com/office/powerpoint/2010/main" val="840378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xmlns="" id="{34A3B939-6057-23B6-25B3-E33A2D205C2A}"/>
              </a:ext>
            </a:extLst>
          </p:cNvPr>
          <p:cNvSpPr>
            <a:spLocks noGrp="1"/>
          </p:cNvSpPr>
          <p:nvPr>
            <p:ph type="title"/>
          </p:nvPr>
        </p:nvSpPr>
        <p:spPr/>
        <p:txBody>
          <a:bodyPr anchor="ctr">
            <a:normAutofit/>
          </a:bodyPr>
          <a:lstStyle/>
          <a:p>
            <a:r>
              <a:rPr lang="en-US" dirty="0" smtClean="0"/>
              <a:t>APPENDIX</a:t>
            </a:r>
            <a:endParaRPr lang="en-US" dirty="0"/>
          </a:p>
        </p:txBody>
      </p:sp>
      <p:pic>
        <p:nvPicPr>
          <p:cNvPr id="11" name="Content Placeholder 3">
            <a:extLst>
              <a:ext uri="{FF2B5EF4-FFF2-40B4-BE49-F238E27FC236}">
                <a16:creationId xmlns:a16="http://schemas.microsoft.com/office/drawing/2014/main" xmlns=""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sp>
        <p:nvSpPr>
          <p:cNvPr id="10" name="Content Placeholder 3">
            <a:extLst>
              <a:ext uri="{FF2B5EF4-FFF2-40B4-BE49-F238E27FC236}">
                <a16:creationId xmlns:a16="http://schemas.microsoft.com/office/drawing/2014/main" xmlns="" id="{8E40FF55-AE57-CB43-454D-CEFBE080CE8E}"/>
              </a:ext>
            </a:extLst>
          </p:cNvPr>
          <p:cNvSpPr txBox="1">
            <a:spLocks/>
          </p:cNvSpPr>
          <p:nvPr/>
        </p:nvSpPr>
        <p:spPr>
          <a:xfrm>
            <a:off x="4544291" y="1849823"/>
            <a:ext cx="5720586" cy="447231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1800" b="1" dirty="0"/>
              <a:t>Additional Charts</a:t>
            </a:r>
            <a:endParaRPr lang="en-US" sz="1800" dirty="0"/>
          </a:p>
          <a:p>
            <a:r>
              <a:rPr lang="en-US" sz="1800" dirty="0"/>
              <a:t>Histogram of Yearly Compensation </a:t>
            </a:r>
          </a:p>
          <a:p>
            <a:r>
              <a:rPr lang="en-US" sz="1800" dirty="0"/>
              <a:t>Scatter Plot of Compensation vs. Job Satisfaction </a:t>
            </a:r>
          </a:p>
          <a:p>
            <a:r>
              <a:rPr lang="en-US" sz="1800" dirty="0"/>
              <a:t>Bubble Plot of Technology Preferences by Age </a:t>
            </a:r>
          </a:p>
          <a:p>
            <a:r>
              <a:rPr lang="en-US" sz="1800" dirty="0"/>
              <a:t>Pie Charts for Programming Languages and Databases </a:t>
            </a:r>
          </a:p>
          <a:p>
            <a:pPr marL="0" indent="0">
              <a:buNone/>
            </a:pPr>
            <a:r>
              <a:rPr lang="en-US" sz="1800" b="1" dirty="0"/>
              <a:t>Additional Tables</a:t>
            </a:r>
            <a:endParaRPr lang="en-US" sz="1800" dirty="0"/>
          </a:p>
          <a:p>
            <a:r>
              <a:rPr lang="en-US" sz="1800" dirty="0"/>
              <a:t>Top 10 Programming Languages </a:t>
            </a:r>
          </a:p>
          <a:p>
            <a:r>
              <a:rPr lang="en-US" sz="1800" dirty="0"/>
              <a:t>Top 10 Databases </a:t>
            </a:r>
          </a:p>
          <a:p>
            <a:r>
              <a:rPr lang="en-US" sz="1800" dirty="0"/>
              <a:t>Summary Statistics of Survey Data </a:t>
            </a:r>
          </a:p>
          <a:p>
            <a:pPr marL="0" indent="0">
              <a:buNone/>
            </a:pPr>
            <a:r>
              <a:rPr lang="en-US" sz="1800" b="1" dirty="0"/>
              <a:t>Supporting Materials</a:t>
            </a:r>
            <a:endParaRPr lang="en-US" sz="1800" dirty="0"/>
          </a:p>
          <a:p>
            <a:r>
              <a:rPr lang="en-US" sz="1800" dirty="0"/>
              <a:t>IBM </a:t>
            </a:r>
            <a:r>
              <a:rPr lang="en-US" sz="1800" dirty="0" err="1"/>
              <a:t>Cognos</a:t>
            </a:r>
            <a:r>
              <a:rPr lang="en-US" sz="1800" dirty="0"/>
              <a:t> Dashboard Screenshots </a:t>
            </a:r>
          </a:p>
          <a:p>
            <a:r>
              <a:rPr lang="en-US" sz="1800" dirty="0"/>
              <a:t>Python Analysis Outputs </a:t>
            </a:r>
          </a:p>
          <a:p>
            <a:r>
              <a:rPr lang="en-US" sz="1800" dirty="0"/>
              <a:t>Job Postings and Technology Trend Tables</a:t>
            </a:r>
          </a:p>
        </p:txBody>
      </p:sp>
    </p:spTree>
    <p:custDataLst>
      <p:tags r:id="rId1"/>
    </p:custDataLst>
    <p:extLst>
      <p:ext uri="{BB962C8B-B14F-4D97-AF65-F5344CB8AC3E}">
        <p14:creationId xmlns:p14="http://schemas.microsoft.com/office/powerpoint/2010/main" val="18601586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445547-4CD8-432E-8B58-E443FD17F88F}">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54DA07C5-A406-4A0D-B3E6-3856C94AC7F3}">
  <ds:schemaRefs>
    <ds:schemaRef ds:uri="http://schemas.microsoft.com/office/2006/metadata/properties"/>
    <ds:schemaRef ds:uri="http://www.w3.org/XML/1998/namespace"/>
    <ds:schemaRef ds:uri="http://purl.org/dc/elements/1.1/"/>
    <ds:schemaRef ds:uri="http://schemas.openxmlformats.org/package/2006/metadata/core-properties"/>
    <ds:schemaRef ds:uri="http://purl.org/dc/terms/"/>
    <ds:schemaRef ds:uri="http://schemas.microsoft.com/office/infopath/2007/PartnerControls"/>
    <ds:schemaRef ds:uri="155be751-a274-42e8-93fb-f39d3b9bccc8"/>
    <ds:schemaRef ds:uri="http://schemas.microsoft.com/office/2006/documentManagement/types"/>
    <ds:schemaRef ds:uri="f80a141d-92ca-4d3d-9308-f7e7b1d44ce8"/>
    <ds:schemaRef ds:uri="http://purl.org/dc/dcmitype/"/>
  </ds:schemaRefs>
</ds:datastoreItem>
</file>

<file path=customXml/itemProps3.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205</TotalTime>
  <Words>1479</Words>
  <Application>Microsoft Office PowerPoint</Application>
  <PresentationFormat>Widescreen</PresentationFormat>
  <Paragraphs>142</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Calibri</vt:lpstr>
      <vt:lpstr>Helv</vt:lpstr>
      <vt:lpstr>IBM Plex Mono</vt:lpstr>
      <vt:lpstr>IBM Plex Mono Medium</vt:lpstr>
      <vt:lpstr>IBM Plex Mono Text</vt:lpstr>
      <vt:lpstr>IBM Plex Sans</vt:lpstr>
      <vt:lpstr>IBM Plex Sans SemiBold</vt:lpstr>
      <vt:lpstr>SLIDE_TEMPLATE_skill_network</vt:lpstr>
      <vt:lpstr>Data Analyst Capstone Project</vt:lpstr>
      <vt:lpstr>PowerPoint Presentation</vt:lpstr>
      <vt:lpstr>EXECUTIVE SUMMARY</vt:lpstr>
      <vt:lpstr>INTRODUCTION</vt:lpstr>
      <vt:lpstr>METHODOLOGY</vt:lpstr>
      <vt:lpstr>Results</vt:lpstr>
      <vt:lpstr> JOB POSTINGS</vt:lpstr>
      <vt:lpstr>POPULAR LANGUAGES</vt:lpstr>
      <vt:lpstr>PROGRAMMING LANGUAGE TRENDS</vt:lpstr>
      <vt:lpstr>PROGRAMMING LANGUAGE TRENDS - FINDINGS &amp; IMPLICATIONS</vt:lpstr>
      <vt:lpstr>DATABASE TRENDS</vt:lpstr>
      <vt:lpstr>DATABASE TRENDS - FINDINGS &amp; IMPLICATIONS</vt:lpstr>
      <vt:lpstr>DASHBOARD TAB 1: Current Technology Usage</vt:lpstr>
      <vt:lpstr>DASHBOARD TAB 2: Future Technology Trends</vt:lpstr>
      <vt:lpstr>DASHBOARD TAB 3: Demographics</vt:lpstr>
      <vt:lpstr>DISCUSSION</vt:lpstr>
      <vt:lpstr>OVERALL FINDINGS &amp; IMPLICATIONS</vt:lpstr>
      <vt:lpstr>CONCLUSION</vt:lpstr>
      <vt:lpstr>APPENDIX</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Analyst Capstone Project</dc:title>
  <dc:creator>Tori Sleeper</dc:creator>
  <cp:lastModifiedBy>Microsoft account</cp:lastModifiedBy>
  <cp:revision>22</cp:revision>
  <dcterms:created xsi:type="dcterms:W3CDTF">2024-10-30T05:40:03Z</dcterms:created>
  <dcterms:modified xsi:type="dcterms:W3CDTF">2026-07-05T08:42:08Z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